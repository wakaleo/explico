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explico turns Rego policy files into Markdown that a human can read and an auditor can rely on. The one-sentence promise: every statement in the output is true by construction. The rest of this deck is what that means, how it works, how to use it, and where it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Rego is the standard policy language behind OPA, Gatekeeper, Trivy and many internal control frameworks. The audience that is accountable for these controls, executives, risk and audit, generally cannot read it. The usual answers are hand-written documents, which drift, or generated summaries, which can be confidently wrong. Neither is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principle everything else follows from. explico never paraphrases and never infers intent. If it cannot say something exactly, it shows the original code instead and says so. Determinism matters because the output is meant to be diffed, reviewed and kept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thin. All parsing goes through the opa binary, so there is no second opinion about Rego semantics to get wrong. Our code only maps OPA's JSON AST into a small domain model, and a renderer turns that model into Markdown. Worked examples add a third opa call, opa eval, to run real inputs against the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rule from the sample release-governance pack and its real rendered output. The comprehension, count of approvals by a release manager equals zero, is rendered as a readable phrase because every part of it could be rendered exactly. Breadcrumbs name the fields of the input the policy looks at. The Rego is reformatted here only to fit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earns trust. When the tool meets a construct it cannot render exactly, such as an every block, a with override or an else chain, it does not guess. It shows the original Rego in a marked block and counts it against coverage. The coverage percentage is an honest signal of how much of the policy the prose above it can be trusted to represent.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that says what a rule does is useful. Documentation that shows what it did on a concrete case is evidence. Verdicts and messages come from a real opa eval of the policy version being rendered, so they cannot drift. The index also reports which controls have no fixture demonstrating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change review, a text diff of Rego is noisy: a reformat or a variable rename lights up the whole file. explico canonicalizes each rule and hashes its logic, so only a change in meaning shows as LOGIC_CHANGED. Metadata-only edits are separated as DOCS_CHANGED. It reports structure only; it deliberately does not claim a change made the policy stricter or looser.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entry points over the same core. The CLI suits a build or CI step that regenerates documentation on every change and fails on drift. The library suits embedding in an existing tool. The demo command extracts a small real policy set and renders it, so you can see output in seconds. Exit codes distinguish usage errors, Rego errors, missing opa and duplicate control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almost every real integration: load once, render, and write the files out, or diff two checkouts in CI. Everything is a plain function call on one object. The examples and data arguments are optional; without them you get the cards and index but no worked examples. The result objects are ordinary data, so a build step can fail on low coverage or on a LOGIC_CHANGED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with a throwaway benchmark that runs the public API over four public corpora one file at a time. The honest number is the third card: real policies use constructs the tool deliberately will not paraphrase, so roughly 60 percent of their conditions become prose and the rest stays visible source. The reference pack, written to show the tool at its best, reaches 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direct about limits is part of the product. Real-world coverage is about sixty percent because the tool refuses to paraphrase what it cannot verify. Same-named boolean rules, for example several allow rules, cannot have a worked-example verdict attributed to one of them, so those cards show none. The next engineering candidates are assignments from builtin calls and further constructs, ranked by how often they appear in real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extracts a small real policy set, renders it, and prints where to look. The showcase pages in the repository pair each example policy with its real rendered output, generated by the same code path and checked in CI for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B2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9850"/>
            <a:ext cx="10566400" cy="473075"/>
          </a:xfrm>
          <a:prstGeom prst="rect">
            <a:avLst/>
          </a:prstGeom>
          <a:noFill/>
          <a:ln/>
        </p:spPr>
        <p:txBody>
          <a:bodyPr wrap="square" lIns="0" tIns="0" rIns="0" bIns="0" rtlCol="0" anchor="t"/>
          <a:lstStyle>
            <a:lvl1pPr algn="l" indent="0" marL="0">
              <a:lnSpc>
                <a:spcPct val="115000"/>
              </a:lnSpc>
              <a:buNone/>
              <a:defRPr lang="en-US" sz="3400" dirty="0">
                <a:solidFill>
                  <a:srgbClr val="F7F5E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2117725"/>
            <a:ext cx="10566400" cy="3927475"/>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B2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9850"/>
            <a:ext cx="10566400" cy="473075"/>
          </a:xfrm>
          <a:prstGeom prst="rect">
            <a:avLst/>
          </a:prstGeom>
          <a:noFill/>
          <a:ln/>
        </p:spPr>
        <p:txBody>
          <a:bodyPr wrap="square" lIns="0" tIns="0" rIns="0" bIns="0" rtlCol="0" anchor="t"/>
          <a:lstStyle>
            <a:lvl1pPr algn="l" indent="0" marL="0">
              <a:lnSpc>
                <a:spcPct val="115000"/>
              </a:lnSpc>
              <a:buNone/>
              <a:defRPr lang="en-US" sz="3400" dirty="0">
                <a:solidFill>
                  <a:srgbClr val="F7F5E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2117725"/>
            <a:ext cx="10566400" cy="3927475"/>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FD3C3"/>
                </a:solidFill>
                <a:latin typeface="IBM Plex Sans" pitchFamily="34" charset="0"/>
                <a:ea typeface="IBM Plex Sans" pitchFamily="34" charset="-122"/>
                <a:cs typeface="IBM Plex Sans" pitchFamily="34" charset="-120"/>
              </a:rPr>
              <a:t>POLICY-AS-CODE DOCUMENTATION</a:t>
            </a:r>
            <a:endParaRPr lang="en-US" sz="1400" dirty="0"/>
          </a:p>
        </p:txBody>
      </p:sp>
      <p:sp>
        <p:nvSpPr>
          <p:cNvPr id="3" name="Text 1"/>
          <p:cNvSpPr/>
          <p:nvPr>
            <p:ph type="title"/>
          </p:nvPr>
        </p:nvSpPr>
        <p:spPr>
          <a:xfrm>
            <a:off x="812800" y="2454275"/>
            <a:ext cx="10883392" cy="1143000"/>
          </a:xfrm>
          <a:prstGeom prst="rect">
            <a:avLst/>
          </a:prstGeom>
          <a:noFill/>
          <a:ln/>
        </p:spPr>
        <p:txBody>
          <a:bodyPr wrap="square" lIns="0" tIns="0" rIns="0" bIns="0" rtlCol="0" anchor="t">
            <a:normAutofit/>
          </a:bodyPr>
          <a:lstStyle/>
          <a:p>
            <a:pPr algn="l" indent="0" marL="0">
              <a:lnSpc>
                <a:spcPts val="8800"/>
              </a:lnSpc>
              <a:buNone/>
            </a:pPr>
            <a:r>
              <a:rPr lang="en-US" sz="8800" b="1" i="0" dirty="0">
                <a:solidFill>
                  <a:srgbClr val="F7F5EF"/>
                </a:solidFill>
                <a:latin typeface="IBM Plex Sans" pitchFamily="34" charset="0"/>
                <a:ea typeface="IBM Plex Sans" pitchFamily="34" charset="-122"/>
                <a:cs typeface="IBM Plex Sans" pitchFamily="34" charset="-120"/>
              </a:rPr>
              <a:t>explico</a:t>
            </a:r>
            <a:endParaRPr lang="en-US" sz="8800" dirty="0"/>
          </a:p>
        </p:txBody>
      </p:sp>
      <p:sp>
        <p:nvSpPr>
          <p:cNvPr id="4" name="Text 2"/>
          <p:cNvSpPr/>
          <p:nvPr/>
        </p:nvSpPr>
        <p:spPr>
          <a:xfrm>
            <a:off x="812800" y="3775075"/>
            <a:ext cx="10883392" cy="45085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7F5EF"/>
                </a:solidFill>
                <a:latin typeface="IBM Plex Sans" pitchFamily="34" charset="0"/>
                <a:ea typeface="IBM Plex Sans" pitchFamily="34" charset="-122"/>
                <a:cs typeface="IBM Plex Sans" pitchFamily="34" charset="-120"/>
              </a:rPr>
              <a:t>Readable documentation of Rego policies, true by construction.</a:t>
            </a:r>
            <a:endParaRPr lang="en-US" sz="2800" dirty="0"/>
          </a:p>
        </p:txBody>
      </p:sp>
      <p:sp>
        <p:nvSpPr>
          <p:cNvPr id="5" name="Text 3"/>
          <p:cNvSpPr/>
          <p:nvPr/>
        </p:nvSpPr>
        <p:spPr>
          <a:xfrm>
            <a:off x="812800" y="559435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D6"/>
                </a:solidFill>
                <a:latin typeface="IBM Plex Sans" pitchFamily="34" charset="0"/>
                <a:ea typeface="IBM Plex Sans" pitchFamily="34" charset="-122"/>
                <a:cs typeface="IBM Plex Sans" pitchFamily="34" charset="-120"/>
              </a:rPr>
              <a:t>A Kotlin library and CLI that drives the real OPA binary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0E6B63"/>
                </a:solidFill>
                <a:latin typeface="IBM Plex Sans" pitchFamily="34" charset="0"/>
                <a:ea typeface="IBM Plex Sans" pitchFamily="34" charset="-122"/>
                <a:cs typeface="IBM Plex Sans" pitchFamily="34" charset="-120"/>
              </a:rPr>
              <a:t>THE PROBLEM</a:t>
            </a:r>
            <a:endParaRPr lang="en-US" sz="1400" dirty="0"/>
          </a:p>
        </p:txBody>
      </p:sp>
      <p:sp>
        <p:nvSpPr>
          <p:cNvPr id="3" name="Text 1"/>
          <p:cNvSpPr/>
          <p:nvPr>
            <p:ph type="title"/>
          </p:nvPr>
        </p:nvSpPr>
        <p:spPr>
          <a:xfrm>
            <a:off x="812800" y="1416050"/>
            <a:ext cx="11379200"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Policy-as-code is hard to read, and harder to trust</a:t>
            </a:r>
            <a:endParaRPr lang="en-US" sz="3600" dirty="0"/>
          </a:p>
        </p:txBody>
      </p:sp>
      <p:sp>
        <p:nvSpPr>
          <p:cNvPr id="4" name="Shape 2"/>
          <p:cNvSpPr/>
          <p:nvPr/>
        </p:nvSpPr>
        <p:spPr>
          <a:xfrm>
            <a:off x="815975" y="2276475"/>
            <a:ext cx="3380284" cy="2063750"/>
          </a:xfrm>
          <a:prstGeom prst="roundRect">
            <a:avLst>
              <a:gd name="adj" fmla="val 4769"/>
            </a:avLst>
          </a:prstGeom>
          <a:solidFill>
            <a:srgbClr val="FFFDF8"/>
          </a:solidFill>
          <a:ln w="6350">
            <a:solidFill>
              <a:srgbClr val="DDD8CB"/>
            </a:solidFill>
            <a:prstDash val="solid"/>
          </a:ln>
        </p:spPr>
      </p:sp>
      <p:sp>
        <p:nvSpPr>
          <p:cNvPr id="5" name="Text 3"/>
          <p:cNvSpPr/>
          <p:nvPr/>
        </p:nvSpPr>
        <p:spPr>
          <a:xfrm>
            <a:off x="1073150" y="2533650"/>
            <a:ext cx="295191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Executives and auditors can’t read Rego</a:t>
            </a:r>
            <a:endParaRPr lang="en-US" sz="2000" dirty="0"/>
          </a:p>
        </p:txBody>
      </p:sp>
      <p:sp>
        <p:nvSpPr>
          <p:cNvPr id="6" name="Text 4"/>
          <p:cNvSpPr/>
          <p:nvPr/>
        </p:nvSpPr>
        <p:spPr>
          <a:xfrm>
            <a:off x="1073150" y="32448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The people accountable for a control have no way to check what the code really does.</a:t>
            </a:r>
            <a:endParaRPr lang="en-US" sz="1600" dirty="0"/>
          </a:p>
        </p:txBody>
      </p:sp>
      <p:sp>
        <p:nvSpPr>
          <p:cNvPr id="7" name="Shape 5"/>
          <p:cNvSpPr/>
          <p:nvPr/>
        </p:nvSpPr>
        <p:spPr>
          <a:xfrm>
            <a:off x="4405809" y="2276475"/>
            <a:ext cx="3380284" cy="2063750"/>
          </a:xfrm>
          <a:prstGeom prst="roundRect">
            <a:avLst>
              <a:gd name="adj" fmla="val 4769"/>
            </a:avLst>
          </a:prstGeom>
          <a:solidFill>
            <a:srgbClr val="FFFDF8"/>
          </a:solidFill>
          <a:ln w="6350">
            <a:solidFill>
              <a:srgbClr val="DDD8CB"/>
            </a:solidFill>
            <a:prstDash val="solid"/>
          </a:ln>
        </p:spPr>
      </p:sp>
      <p:sp>
        <p:nvSpPr>
          <p:cNvPr id="8" name="Text 6"/>
          <p:cNvSpPr/>
          <p:nvPr/>
        </p:nvSpPr>
        <p:spPr>
          <a:xfrm>
            <a:off x="4662984" y="253365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Hand-written docs drift</a:t>
            </a:r>
            <a:endParaRPr lang="en-US" sz="2000" dirty="0"/>
          </a:p>
        </p:txBody>
      </p:sp>
      <p:sp>
        <p:nvSpPr>
          <p:cNvPr id="9" name="Text 7"/>
          <p:cNvSpPr/>
          <p:nvPr/>
        </p:nvSpPr>
        <p:spPr>
          <a:xfrm>
            <a:off x="4662984" y="29400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The wording and the logic part company the day someone edits a rule.</a:t>
            </a:r>
            <a:endParaRPr lang="en-US" sz="1600" dirty="0"/>
          </a:p>
        </p:txBody>
      </p:sp>
      <p:sp>
        <p:nvSpPr>
          <p:cNvPr id="10" name="Shape 8"/>
          <p:cNvSpPr/>
          <p:nvPr/>
        </p:nvSpPr>
        <p:spPr>
          <a:xfrm>
            <a:off x="7995642" y="2276475"/>
            <a:ext cx="3380284" cy="2063750"/>
          </a:xfrm>
          <a:prstGeom prst="roundRect">
            <a:avLst>
              <a:gd name="adj" fmla="val 4769"/>
            </a:avLst>
          </a:prstGeom>
          <a:solidFill>
            <a:srgbClr val="FFFDF8"/>
          </a:solidFill>
          <a:ln w="6350">
            <a:solidFill>
              <a:srgbClr val="DDD8CB"/>
            </a:solidFill>
            <a:prstDash val="solid"/>
          </a:ln>
        </p:spPr>
      </p:sp>
      <p:sp>
        <p:nvSpPr>
          <p:cNvPr id="11" name="Text 9"/>
          <p:cNvSpPr/>
          <p:nvPr/>
        </p:nvSpPr>
        <p:spPr>
          <a:xfrm>
            <a:off x="8252817" y="2533650"/>
            <a:ext cx="295191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AI summaries sound right</a:t>
            </a:r>
            <a:endParaRPr lang="en-US" sz="2000" dirty="0"/>
          </a:p>
        </p:txBody>
      </p:sp>
      <p:sp>
        <p:nvSpPr>
          <p:cNvPr id="12" name="Text 10"/>
          <p:cNvSpPr/>
          <p:nvPr/>
        </p:nvSpPr>
        <p:spPr>
          <a:xfrm>
            <a:off x="8252817" y="324485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 paraphrase of logic is a claim nobody verified. Plausible is not the same as true.</a:t>
            </a:r>
            <a:endParaRPr lang="en-US" sz="1600" dirty="0"/>
          </a:p>
        </p:txBody>
      </p:sp>
      <p:sp>
        <p:nvSpPr>
          <p:cNvPr id="13" name="Text 11"/>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FD3C3"/>
                </a:solidFill>
                <a:latin typeface="IBM Plex Sans" pitchFamily="34" charset="0"/>
                <a:ea typeface="IBM Plex Sans" pitchFamily="34" charset="-122"/>
                <a:cs typeface="IBM Plex Sans" pitchFamily="34" charset="-120"/>
              </a:rPr>
              <a:t>WHAT IT IS</a:t>
            </a:r>
            <a:endParaRPr lang="en-US" sz="1400" dirty="0"/>
          </a:p>
        </p:txBody>
      </p:sp>
      <p:sp>
        <p:nvSpPr>
          <p:cNvPr id="3" name="Text 1"/>
          <p:cNvSpPr/>
          <p:nvPr>
            <p:ph type="title"/>
          </p:nvPr>
        </p:nvSpPr>
        <p:spPr>
          <a:xfrm>
            <a:off x="812800" y="1416050"/>
            <a:ext cx="10883392" cy="119380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F7F5EF"/>
                </a:solidFill>
                <a:latin typeface="IBM Plex Sans" pitchFamily="34" charset="0"/>
                <a:ea typeface="IBM Plex Sans" pitchFamily="34" charset="-122"/>
                <a:cs typeface="IBM Plex Sans" pitchFamily="34" charset="-120"/>
              </a:rPr>
              <a:t>Every statement in the output is true by construction.</a:t>
            </a:r>
            <a:endParaRPr lang="en-US" sz="4200" dirty="0"/>
          </a:p>
        </p:txBody>
      </p:sp>
      <p:sp>
        <p:nvSpPr>
          <p:cNvPr id="4" name="Shape 2"/>
          <p:cNvSpPr/>
          <p:nvPr/>
        </p:nvSpPr>
        <p:spPr>
          <a:xfrm>
            <a:off x="815975" y="2943225"/>
            <a:ext cx="3380284" cy="1758950"/>
          </a:xfrm>
          <a:prstGeom prst="roundRect">
            <a:avLst>
              <a:gd name="adj" fmla="val 5596"/>
            </a:avLst>
          </a:prstGeom>
          <a:solidFill>
            <a:srgbClr val="16263D"/>
          </a:solidFill>
          <a:ln w="6350">
            <a:solidFill>
              <a:srgbClr val="2A3E5C"/>
            </a:solidFill>
            <a:prstDash val="solid"/>
          </a:ln>
        </p:spPr>
      </p:sp>
      <p:sp>
        <p:nvSpPr>
          <p:cNvPr id="5" name="Text 3"/>
          <p:cNvSpPr/>
          <p:nvPr/>
        </p:nvSpPr>
        <p:spPr>
          <a:xfrm>
            <a:off x="1073150" y="320040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FD3C3"/>
                </a:solidFill>
                <a:latin typeface="IBM Plex Sans" pitchFamily="34" charset="0"/>
                <a:ea typeface="IBM Plex Sans" pitchFamily="34" charset="-122"/>
                <a:cs typeface="IBM Plex Sans" pitchFamily="34" charset="-120"/>
              </a:rPr>
              <a:t>Derived, not described</a:t>
            </a:r>
            <a:endParaRPr lang="en-US" sz="2000" dirty="0"/>
          </a:p>
        </p:txBody>
      </p:sp>
      <p:sp>
        <p:nvSpPr>
          <p:cNvPr id="6" name="Text 4"/>
          <p:cNvSpPr/>
          <p:nvPr/>
        </p:nvSpPr>
        <p:spPr>
          <a:xfrm>
            <a:off x="1073150" y="360680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IBM Plex Sans" pitchFamily="34" charset="0"/>
                <a:ea typeface="IBM Plex Sans" pitchFamily="34" charset="-122"/>
                <a:cs typeface="IBM Plex Sans" pitchFamily="34" charset="-120"/>
              </a:rPr>
              <a:t>Rendered only from the Rego AST and its standard METADATA annotations.</a:t>
            </a:r>
            <a:endParaRPr lang="en-US" sz="1600" dirty="0"/>
          </a:p>
        </p:txBody>
      </p:sp>
      <p:sp>
        <p:nvSpPr>
          <p:cNvPr id="7" name="Shape 5"/>
          <p:cNvSpPr/>
          <p:nvPr/>
        </p:nvSpPr>
        <p:spPr>
          <a:xfrm>
            <a:off x="4405809" y="2943225"/>
            <a:ext cx="3380284" cy="1758950"/>
          </a:xfrm>
          <a:prstGeom prst="roundRect">
            <a:avLst>
              <a:gd name="adj" fmla="val 5596"/>
            </a:avLst>
          </a:prstGeom>
          <a:solidFill>
            <a:srgbClr val="16263D"/>
          </a:solidFill>
          <a:ln w="6350">
            <a:solidFill>
              <a:srgbClr val="2A3E5C"/>
            </a:solidFill>
            <a:prstDash val="solid"/>
          </a:ln>
        </p:spPr>
      </p:sp>
      <p:sp>
        <p:nvSpPr>
          <p:cNvPr id="8" name="Text 6"/>
          <p:cNvSpPr/>
          <p:nvPr/>
        </p:nvSpPr>
        <p:spPr>
          <a:xfrm>
            <a:off x="4662984" y="320040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FD3C3"/>
                </a:solidFill>
                <a:latin typeface="IBM Plex Sans" pitchFamily="34" charset="0"/>
                <a:ea typeface="IBM Plex Sans" pitchFamily="34" charset="-122"/>
                <a:cs typeface="IBM Plex Sans" pitchFamily="34" charset="-120"/>
              </a:rPr>
              <a:t>Source when unsure</a:t>
            </a:r>
            <a:endParaRPr lang="en-US" sz="2000" dirty="0"/>
          </a:p>
        </p:txBody>
      </p:sp>
      <p:sp>
        <p:nvSpPr>
          <p:cNvPr id="9" name="Text 7"/>
          <p:cNvSpPr/>
          <p:nvPr/>
        </p:nvSpPr>
        <p:spPr>
          <a:xfrm>
            <a:off x="4662984" y="360680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IBM Plex Sans" pitchFamily="34" charset="0"/>
                <a:ea typeface="IBM Plex Sans" pitchFamily="34" charset="-122"/>
                <a:cs typeface="IBM Plex Sans" pitchFamily="34" charset="-120"/>
              </a:rPr>
              <a:t>Anything it can’t render exactly appears as clearly marked, verbatim Rego.</a:t>
            </a:r>
            <a:endParaRPr lang="en-US" sz="1600" dirty="0"/>
          </a:p>
        </p:txBody>
      </p:sp>
      <p:sp>
        <p:nvSpPr>
          <p:cNvPr id="10" name="Shape 8"/>
          <p:cNvSpPr/>
          <p:nvPr/>
        </p:nvSpPr>
        <p:spPr>
          <a:xfrm>
            <a:off x="7995642" y="2943225"/>
            <a:ext cx="3380284" cy="1758950"/>
          </a:xfrm>
          <a:prstGeom prst="roundRect">
            <a:avLst>
              <a:gd name="adj" fmla="val 5596"/>
            </a:avLst>
          </a:prstGeom>
          <a:solidFill>
            <a:srgbClr val="16263D"/>
          </a:solidFill>
          <a:ln w="6350">
            <a:solidFill>
              <a:srgbClr val="2A3E5C"/>
            </a:solidFill>
            <a:prstDash val="solid"/>
          </a:ln>
        </p:spPr>
      </p:sp>
      <p:sp>
        <p:nvSpPr>
          <p:cNvPr id="11" name="Text 9"/>
          <p:cNvSpPr/>
          <p:nvPr/>
        </p:nvSpPr>
        <p:spPr>
          <a:xfrm>
            <a:off x="8252817" y="3200400"/>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FD3C3"/>
                </a:solidFill>
                <a:latin typeface="IBM Plex Sans" pitchFamily="34" charset="0"/>
                <a:ea typeface="IBM Plex Sans" pitchFamily="34" charset="-122"/>
                <a:cs typeface="IBM Plex Sans" pitchFamily="34" charset="-120"/>
              </a:rPr>
              <a:t>Deterministic</a:t>
            </a:r>
            <a:endParaRPr lang="en-US" sz="2000" dirty="0"/>
          </a:p>
        </p:txBody>
      </p:sp>
      <p:sp>
        <p:nvSpPr>
          <p:cNvPr id="12" name="Text 10"/>
          <p:cNvSpPr/>
          <p:nvPr/>
        </p:nvSpPr>
        <p:spPr>
          <a:xfrm>
            <a:off x="8252817" y="3606800"/>
            <a:ext cx="2951912"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IBM Plex Sans" pitchFamily="34" charset="0"/>
                <a:ea typeface="IBM Plex Sans" pitchFamily="34" charset="-122"/>
                <a:cs typeface="IBM Plex Sans" pitchFamily="34" charset="-120"/>
              </a:rPr>
              <a:t>The same input directory gives byte-identical output, on every run.</a:t>
            </a:r>
            <a:endParaRPr lang="en-US" sz="1600" dirty="0"/>
          </a:p>
        </p:txBody>
      </p:sp>
      <p:sp>
        <p:nvSpPr>
          <p:cNvPr id="13" name="Text 11"/>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0E6B63"/>
                </a:solidFill>
                <a:latin typeface="IBM Plex Sans" pitchFamily="34" charset="0"/>
                <a:ea typeface="IBM Plex Sans" pitchFamily="34" charset="-122"/>
                <a:cs typeface="IBM Plex Sans" pitchFamily="34" charset="-120"/>
              </a:rPr>
              <a:t>HOW IT WORKS</a:t>
            </a:r>
            <a:endParaRPr lang="en-US" sz="1400" dirty="0"/>
          </a:p>
        </p:txBody>
      </p:sp>
      <p:sp>
        <p:nvSpPr>
          <p:cNvPr id="3" name="Text 1"/>
          <p:cNvSpPr/>
          <p:nvPr>
            <p:ph type="title"/>
          </p:nvPr>
        </p:nvSpPr>
        <p:spPr>
          <a:xfrm>
            <a:off x="812800" y="1416050"/>
            <a:ext cx="10883392" cy="102870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OPA decides what the policy means. explico maps it.</a:t>
            </a:r>
            <a:endParaRPr lang="en-US" sz="3600" dirty="0"/>
          </a:p>
        </p:txBody>
      </p:sp>
      <p:sp>
        <p:nvSpPr>
          <p:cNvPr id="4" name="Shape 2"/>
          <p:cNvSpPr/>
          <p:nvPr/>
        </p:nvSpPr>
        <p:spPr>
          <a:xfrm>
            <a:off x="815975" y="2898775"/>
            <a:ext cx="1657350" cy="1123950"/>
          </a:xfrm>
          <a:prstGeom prst="roundRect">
            <a:avLst>
              <a:gd name="adj" fmla="val 8757"/>
            </a:avLst>
          </a:prstGeom>
          <a:solidFill>
            <a:srgbClr val="FFFDF8"/>
          </a:solidFill>
          <a:ln w="6350">
            <a:solidFill>
              <a:srgbClr val="DDD8CB"/>
            </a:solidFill>
            <a:prstDash val="solid"/>
          </a:ln>
        </p:spPr>
      </p:sp>
      <p:sp>
        <p:nvSpPr>
          <p:cNvPr id="5" name="Text 3"/>
          <p:cNvSpPr/>
          <p:nvPr/>
        </p:nvSpPr>
        <p:spPr>
          <a:xfrm>
            <a:off x="996950" y="3079750"/>
            <a:ext cx="134620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Rego files</a:t>
            </a:r>
            <a:endParaRPr lang="en-US" sz="1600" dirty="0"/>
          </a:p>
        </p:txBody>
      </p:sp>
      <p:sp>
        <p:nvSpPr>
          <p:cNvPr id="6" name="Text 4"/>
          <p:cNvSpPr/>
          <p:nvPr/>
        </p:nvSpPr>
        <p:spPr>
          <a:xfrm>
            <a:off x="996950" y="3397250"/>
            <a:ext cx="1346200"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with METADATA, fixtures and data</a:t>
            </a:r>
            <a:endParaRPr lang="en-US" sz="1300" dirty="0"/>
          </a:p>
        </p:txBody>
      </p:sp>
      <p:pic>
        <p:nvPicPr>
          <p:cNvPr id="7" name="Image 0" descr="arrow-right">    </p:cNvPr>
          <p:cNvPicPr>
            <a:picLocks noChangeAspect="1"/>
          </p:cNvPicPr>
          <p:nvPr/>
        </p:nvPicPr>
        <p:blipFill>
          <a:blip r:embed="rId1"/>
          <a:srcRect l="0" r="0" t="0" b="0"/>
          <a:stretch/>
        </p:blipFill>
        <p:spPr>
          <a:xfrm>
            <a:off x="2603500" y="3359150"/>
            <a:ext cx="304800" cy="203200"/>
          </a:xfrm>
          <a:prstGeom prst="rect">
            <a:avLst/>
          </a:prstGeom>
        </p:spPr>
      </p:pic>
      <p:sp>
        <p:nvSpPr>
          <p:cNvPr id="8" name="Shape 5"/>
          <p:cNvSpPr/>
          <p:nvPr/>
        </p:nvSpPr>
        <p:spPr>
          <a:xfrm>
            <a:off x="3041650" y="2784475"/>
            <a:ext cx="1663700" cy="1352550"/>
          </a:xfrm>
          <a:prstGeom prst="roundRect">
            <a:avLst>
              <a:gd name="adj" fmla="val 7042"/>
            </a:avLst>
          </a:prstGeom>
          <a:solidFill>
            <a:srgbClr val="FFFDF8"/>
          </a:solidFill>
          <a:ln w="12700">
            <a:solidFill>
              <a:srgbClr val="0E6B63"/>
            </a:solidFill>
            <a:prstDash val="solid"/>
          </a:ln>
        </p:spPr>
      </p:sp>
      <p:sp>
        <p:nvSpPr>
          <p:cNvPr id="9" name="Text 6"/>
          <p:cNvSpPr/>
          <p:nvPr/>
        </p:nvSpPr>
        <p:spPr>
          <a:xfrm>
            <a:off x="3225800" y="2968625"/>
            <a:ext cx="134620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6B63"/>
                </a:solidFill>
                <a:latin typeface="IBM Plex Sans" pitchFamily="34" charset="0"/>
                <a:ea typeface="IBM Plex Sans" pitchFamily="34" charset="-122"/>
                <a:cs typeface="IBM Plex Sans" pitchFamily="34" charset="-120"/>
              </a:rPr>
              <a:t>opa parse</a:t>
            </a:r>
            <a:endParaRPr lang="en-US" sz="1600" dirty="0"/>
          </a:p>
        </p:txBody>
      </p:sp>
      <p:sp>
        <p:nvSpPr>
          <p:cNvPr id="10" name="Text 7"/>
          <p:cNvSpPr/>
          <p:nvPr/>
        </p:nvSpPr>
        <p:spPr>
          <a:xfrm>
            <a:off x="3225800" y="3286125"/>
            <a:ext cx="1346200" cy="6921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the real OPA binary produces the AST</a:t>
            </a:r>
            <a:endParaRPr lang="en-US" sz="1300" dirty="0"/>
          </a:p>
        </p:txBody>
      </p:sp>
      <p:pic>
        <p:nvPicPr>
          <p:cNvPr id="11" name="Image 1" descr="arrow-right">    </p:cNvPr>
          <p:cNvPicPr>
            <a:picLocks noChangeAspect="1"/>
          </p:cNvPicPr>
          <p:nvPr/>
        </p:nvPicPr>
        <p:blipFill>
          <a:blip r:embed="rId2"/>
          <a:srcRect l="0" r="0" t="0" b="0"/>
          <a:stretch/>
        </p:blipFill>
        <p:spPr>
          <a:xfrm>
            <a:off x="4838700" y="3359150"/>
            <a:ext cx="304800" cy="203200"/>
          </a:xfrm>
          <a:prstGeom prst="rect">
            <a:avLst/>
          </a:prstGeom>
        </p:spPr>
      </p:pic>
      <p:sp>
        <p:nvSpPr>
          <p:cNvPr id="12" name="Shape 8"/>
          <p:cNvSpPr/>
          <p:nvPr/>
        </p:nvSpPr>
        <p:spPr>
          <a:xfrm>
            <a:off x="5273675" y="2787650"/>
            <a:ext cx="1657350" cy="1346200"/>
          </a:xfrm>
          <a:prstGeom prst="roundRect">
            <a:avLst>
              <a:gd name="adj" fmla="val 7311"/>
            </a:avLst>
          </a:prstGeom>
          <a:solidFill>
            <a:srgbClr val="FFFDF8"/>
          </a:solidFill>
          <a:ln w="6350">
            <a:solidFill>
              <a:srgbClr val="DDD8CB"/>
            </a:solidFill>
            <a:prstDash val="solid"/>
          </a:ln>
        </p:spPr>
      </p:sp>
      <p:sp>
        <p:nvSpPr>
          <p:cNvPr id="13" name="Text 9"/>
          <p:cNvSpPr/>
          <p:nvPr/>
        </p:nvSpPr>
        <p:spPr>
          <a:xfrm>
            <a:off x="5454650" y="2968625"/>
            <a:ext cx="134620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AST mapper</a:t>
            </a:r>
            <a:endParaRPr lang="en-US" sz="1600" dirty="0"/>
          </a:p>
        </p:txBody>
      </p:sp>
      <p:sp>
        <p:nvSpPr>
          <p:cNvPr id="14" name="Text 10"/>
          <p:cNvSpPr/>
          <p:nvPr/>
        </p:nvSpPr>
        <p:spPr>
          <a:xfrm>
            <a:off x="5454650" y="3286125"/>
            <a:ext cx="1346200" cy="6921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classifies each construct, or falls back</a:t>
            </a:r>
            <a:endParaRPr lang="en-US" sz="1300" dirty="0"/>
          </a:p>
        </p:txBody>
      </p:sp>
      <p:pic>
        <p:nvPicPr>
          <p:cNvPr id="15" name="Image 2" descr="arrow-right">    </p:cNvPr>
          <p:cNvPicPr>
            <a:picLocks noChangeAspect="1"/>
          </p:cNvPicPr>
          <p:nvPr/>
        </p:nvPicPr>
        <p:blipFill>
          <a:blip r:embed="rId3"/>
          <a:srcRect l="0" r="0" t="0" b="0"/>
          <a:stretch/>
        </p:blipFill>
        <p:spPr>
          <a:xfrm>
            <a:off x="7061200" y="3359150"/>
            <a:ext cx="304800" cy="203200"/>
          </a:xfrm>
          <a:prstGeom prst="rect">
            <a:avLst/>
          </a:prstGeom>
        </p:spPr>
      </p:pic>
      <p:sp>
        <p:nvSpPr>
          <p:cNvPr id="16" name="Shape 11"/>
          <p:cNvSpPr/>
          <p:nvPr/>
        </p:nvSpPr>
        <p:spPr>
          <a:xfrm>
            <a:off x="7496175" y="2778125"/>
            <a:ext cx="1657350" cy="1365250"/>
          </a:xfrm>
          <a:prstGeom prst="roundRect">
            <a:avLst>
              <a:gd name="adj" fmla="val 7209"/>
            </a:avLst>
          </a:prstGeom>
          <a:solidFill>
            <a:srgbClr val="FFFDF8"/>
          </a:solidFill>
          <a:ln w="6350">
            <a:solidFill>
              <a:srgbClr val="DDD8CB"/>
            </a:solidFill>
            <a:prstDash val="solid"/>
          </a:ln>
        </p:spPr>
      </p:sp>
      <p:sp>
        <p:nvSpPr>
          <p:cNvPr id="17" name="Text 12"/>
          <p:cNvSpPr/>
          <p:nvPr/>
        </p:nvSpPr>
        <p:spPr>
          <a:xfrm>
            <a:off x="7677150" y="2959100"/>
            <a:ext cx="1346200" cy="5080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Domain model</a:t>
            </a:r>
            <a:endParaRPr lang="en-US" sz="1600" dirty="0"/>
          </a:p>
        </p:txBody>
      </p:sp>
      <p:sp>
        <p:nvSpPr>
          <p:cNvPr id="18" name="Text 13"/>
          <p:cNvSpPr/>
          <p:nvPr/>
        </p:nvSpPr>
        <p:spPr>
          <a:xfrm>
            <a:off x="7677150" y="3517900"/>
            <a:ext cx="1346200" cy="46990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conditions, operands, rules</a:t>
            </a:r>
            <a:endParaRPr lang="en-US" sz="1300" dirty="0"/>
          </a:p>
        </p:txBody>
      </p:sp>
      <p:pic>
        <p:nvPicPr>
          <p:cNvPr id="19" name="Image 3" descr="arrow-right">    </p:cNvPr>
          <p:cNvPicPr>
            <a:picLocks noChangeAspect="1"/>
          </p:cNvPicPr>
          <p:nvPr/>
        </p:nvPicPr>
        <p:blipFill>
          <a:blip r:embed="rId4"/>
          <a:srcRect l="0" r="0" t="0" b="0"/>
          <a:stretch/>
        </p:blipFill>
        <p:spPr>
          <a:xfrm>
            <a:off x="9283700" y="3359150"/>
            <a:ext cx="304800" cy="203200"/>
          </a:xfrm>
          <a:prstGeom prst="rect">
            <a:avLst/>
          </a:prstGeom>
        </p:spPr>
      </p:pic>
      <p:sp>
        <p:nvSpPr>
          <p:cNvPr id="20" name="Shape 14"/>
          <p:cNvSpPr/>
          <p:nvPr/>
        </p:nvSpPr>
        <p:spPr>
          <a:xfrm>
            <a:off x="9718675" y="2787650"/>
            <a:ext cx="1657350" cy="1346200"/>
          </a:xfrm>
          <a:prstGeom prst="roundRect">
            <a:avLst>
              <a:gd name="adj" fmla="val 7311"/>
            </a:avLst>
          </a:prstGeom>
          <a:solidFill>
            <a:srgbClr val="FFFDF8"/>
          </a:solidFill>
          <a:ln w="6350">
            <a:solidFill>
              <a:srgbClr val="DDD8CB"/>
            </a:solidFill>
            <a:prstDash val="solid"/>
          </a:ln>
        </p:spPr>
      </p:sp>
      <p:sp>
        <p:nvSpPr>
          <p:cNvPr id="21" name="Text 15"/>
          <p:cNvSpPr/>
          <p:nvPr/>
        </p:nvSpPr>
        <p:spPr>
          <a:xfrm>
            <a:off x="9899650" y="2968625"/>
            <a:ext cx="1346200" cy="26670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Markdown</a:t>
            </a:r>
            <a:endParaRPr lang="en-US" sz="1600" dirty="0"/>
          </a:p>
        </p:txBody>
      </p:sp>
      <p:sp>
        <p:nvSpPr>
          <p:cNvPr id="22" name="Text 16"/>
          <p:cNvSpPr/>
          <p:nvPr/>
        </p:nvSpPr>
        <p:spPr>
          <a:xfrm>
            <a:off x="9899650" y="3286125"/>
            <a:ext cx="1346200" cy="69215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cards, index, worked examples, diffs</a:t>
            </a:r>
            <a:endParaRPr lang="en-US" sz="1300" dirty="0"/>
          </a:p>
        </p:txBody>
      </p:sp>
      <p:sp>
        <p:nvSpPr>
          <p:cNvPr id="23" name="Text 17"/>
          <p:cNvSpPr/>
          <p:nvPr/>
        </p:nvSpPr>
        <p:spPr>
          <a:xfrm>
            <a:off x="812800" y="4502150"/>
            <a:ext cx="10883392" cy="63500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0F1B2D"/>
                </a:solidFill>
                <a:latin typeface="IBM Plex Sans" pitchFamily="34" charset="0"/>
                <a:ea typeface="IBM Plex Sans" pitchFamily="34" charset="-122"/>
                <a:cs typeface="IBM Plex Sans" pitchFamily="34" charset="-120"/>
              </a:rPr>
              <a:t>Rego is never parsed in our code. If OPA accepts a policy, explico can render it. If OPA rejects it, so do we.</a:t>
            </a:r>
            <a:endParaRPr lang="en-US" sz="1800" dirty="0"/>
          </a:p>
        </p:txBody>
      </p:sp>
      <p:sp>
        <p:nvSpPr>
          <p:cNvPr id="24" name="Text 18"/>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FD3C3"/>
                </a:solidFill>
                <a:latin typeface="IBM Plex Sans" pitchFamily="34" charset="0"/>
                <a:ea typeface="IBM Plex Sans" pitchFamily="34" charset="-122"/>
                <a:cs typeface="IBM Plex Sans" pitchFamily="34" charset="-120"/>
              </a:rPr>
              <a:t>INPUT AND OUTPUT</a:t>
            </a:r>
            <a:endParaRPr lang="en-US" sz="1400" dirty="0"/>
          </a:p>
        </p:txBody>
      </p:sp>
      <p:sp>
        <p:nvSpPr>
          <p:cNvPr id="3" name="Text 1"/>
          <p:cNvSpPr/>
          <p:nvPr>
            <p:ph type="title"/>
          </p:nvPr>
        </p:nvSpPr>
        <p:spPr>
          <a:xfrm>
            <a:off x="812800" y="13144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IBM Plex Sans" pitchFamily="34" charset="0"/>
                <a:ea typeface="IBM Plex Sans" pitchFamily="34" charset="-122"/>
                <a:cs typeface="IBM Plex Sans" pitchFamily="34" charset="-120"/>
              </a:rPr>
              <a:t>A Rego rule, and what a reader sees</a:t>
            </a:r>
            <a:endParaRPr lang="en-US" sz="3200" dirty="0"/>
          </a:p>
        </p:txBody>
      </p:sp>
      <p:sp>
        <p:nvSpPr>
          <p:cNvPr id="4" name="Shape 2"/>
          <p:cNvSpPr/>
          <p:nvPr/>
        </p:nvSpPr>
        <p:spPr>
          <a:xfrm>
            <a:off x="815975" y="2016125"/>
            <a:ext cx="5181600" cy="2806700"/>
          </a:xfrm>
          <a:prstGeom prst="roundRect">
            <a:avLst>
              <a:gd name="adj" fmla="val 3507"/>
            </a:avLst>
          </a:prstGeom>
          <a:solidFill>
            <a:srgbClr val="16263D"/>
          </a:solidFill>
          <a:ln w="6350">
            <a:solidFill>
              <a:srgbClr val="2A3E5C"/>
            </a:solidFill>
            <a:prstDash val="solid"/>
          </a:ln>
        </p:spPr>
      </p:sp>
      <p:sp>
        <p:nvSpPr>
          <p:cNvPr id="5" name="Text 3"/>
          <p:cNvSpPr/>
          <p:nvPr/>
        </p:nvSpPr>
        <p:spPr>
          <a:xfrm>
            <a:off x="1047750" y="2247900"/>
            <a:ext cx="48595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Rego</a:t>
            </a:r>
            <a:endParaRPr lang="en-US" sz="1200" dirty="0"/>
          </a:p>
        </p:txBody>
      </p:sp>
      <p:sp>
        <p:nvSpPr>
          <p:cNvPr id="6" name="Text 4"/>
          <p:cNvSpPr/>
          <p:nvPr/>
        </p:nvSpPr>
        <p:spPr>
          <a:xfrm>
            <a:off x="1047750" y="2520950"/>
            <a:ext cx="4859592"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deny contains msg if {</a:t>
            </a:r>
            <a:endParaRPr lang="en-US" sz="1200" dirty="0"/>
          </a:p>
        </p:txBody>
      </p:sp>
      <p:sp>
        <p:nvSpPr>
          <p:cNvPr id="7" name="Text 5"/>
          <p:cNvSpPr/>
          <p:nvPr/>
        </p:nvSpPr>
        <p:spPr>
          <a:xfrm>
            <a:off x="1225550" y="2787650"/>
            <a:ext cx="4676458"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input.deployment.environment == "production"</a:t>
            </a:r>
            <a:endParaRPr lang="en-US" sz="1200" dirty="0"/>
          </a:p>
        </p:txBody>
      </p:sp>
      <p:sp>
        <p:nvSpPr>
          <p:cNvPr id="8" name="Text 6"/>
          <p:cNvSpPr/>
          <p:nvPr/>
        </p:nvSpPr>
        <p:spPr>
          <a:xfrm>
            <a:off x="1225550" y="3054350"/>
            <a:ext cx="4676458"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count({a |</a:t>
            </a:r>
            <a:endParaRPr lang="en-US" sz="1200" dirty="0"/>
          </a:p>
        </p:txBody>
      </p:sp>
      <p:sp>
        <p:nvSpPr>
          <p:cNvPr id="9" name="Text 7"/>
          <p:cNvSpPr/>
          <p:nvPr/>
        </p:nvSpPr>
        <p:spPr>
          <a:xfrm>
            <a:off x="1403350" y="3321050"/>
            <a:ext cx="4493324"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some a in input.change.approvals</a:t>
            </a:r>
            <a:endParaRPr lang="en-US" sz="1200" dirty="0"/>
          </a:p>
        </p:txBody>
      </p:sp>
      <p:sp>
        <p:nvSpPr>
          <p:cNvPr id="10" name="Text 8"/>
          <p:cNvSpPr/>
          <p:nvPr/>
        </p:nvSpPr>
        <p:spPr>
          <a:xfrm>
            <a:off x="1403350" y="3587750"/>
            <a:ext cx="4493324"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a.role == "release-manager"</a:t>
            </a:r>
            <a:endParaRPr lang="en-US" sz="1200" dirty="0"/>
          </a:p>
        </p:txBody>
      </p:sp>
      <p:sp>
        <p:nvSpPr>
          <p:cNvPr id="11" name="Text 9"/>
          <p:cNvSpPr/>
          <p:nvPr/>
        </p:nvSpPr>
        <p:spPr>
          <a:xfrm>
            <a:off x="1225550" y="3854450"/>
            <a:ext cx="4676458"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 == 0</a:t>
            </a:r>
            <a:endParaRPr lang="en-US" sz="1200" dirty="0"/>
          </a:p>
        </p:txBody>
      </p:sp>
      <p:sp>
        <p:nvSpPr>
          <p:cNvPr id="12" name="Text 10"/>
          <p:cNvSpPr/>
          <p:nvPr/>
        </p:nvSpPr>
        <p:spPr>
          <a:xfrm>
            <a:off x="1225550" y="4121150"/>
            <a:ext cx="4676458"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msg := "no release manager approval is recorded"</a:t>
            </a:r>
            <a:endParaRPr lang="en-US" sz="1200" dirty="0"/>
          </a:p>
        </p:txBody>
      </p:sp>
      <p:sp>
        <p:nvSpPr>
          <p:cNvPr id="13" name="Text 11"/>
          <p:cNvSpPr/>
          <p:nvPr/>
        </p:nvSpPr>
        <p:spPr>
          <a:xfrm>
            <a:off x="1047750" y="4387850"/>
            <a:ext cx="4859592"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a:t>
            </a:r>
            <a:endParaRPr lang="en-US" sz="1200" dirty="0"/>
          </a:p>
        </p:txBody>
      </p:sp>
      <p:sp>
        <p:nvSpPr>
          <p:cNvPr id="14" name="Shape 12"/>
          <p:cNvSpPr/>
          <p:nvPr/>
        </p:nvSpPr>
        <p:spPr>
          <a:xfrm>
            <a:off x="6203950" y="2012950"/>
            <a:ext cx="5175250" cy="2813050"/>
          </a:xfrm>
          <a:prstGeom prst="roundRect">
            <a:avLst>
              <a:gd name="adj" fmla="val 3612"/>
            </a:avLst>
          </a:prstGeom>
          <a:solidFill>
            <a:srgbClr val="F7F5EF"/>
          </a:solidFill>
          <a:ln/>
        </p:spPr>
      </p:sp>
      <p:sp>
        <p:nvSpPr>
          <p:cNvPr id="15" name="Text 13"/>
          <p:cNvSpPr/>
          <p:nvPr/>
        </p:nvSpPr>
        <p:spPr>
          <a:xfrm>
            <a:off x="6432550" y="2241550"/>
            <a:ext cx="48595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6B63"/>
                </a:solidFill>
                <a:latin typeface="IBM Plex Sans" pitchFamily="34" charset="0"/>
                <a:ea typeface="IBM Plex Sans" pitchFamily="34" charset="-122"/>
                <a:cs typeface="IBM Plex Sans" pitchFamily="34" charset="-120"/>
              </a:rPr>
              <a:t>Rendered</a:t>
            </a:r>
            <a:endParaRPr lang="en-US" sz="1200" dirty="0"/>
          </a:p>
        </p:txBody>
      </p:sp>
      <p:sp>
        <p:nvSpPr>
          <p:cNvPr id="16" name="Text 14"/>
          <p:cNvSpPr/>
          <p:nvPr/>
        </p:nvSpPr>
        <p:spPr>
          <a:xfrm>
            <a:off x="6432550" y="2565400"/>
            <a:ext cx="4859592" cy="25400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0F1B2D"/>
                </a:solidFill>
                <a:latin typeface="IBM Plex Sans" pitchFamily="34" charset="0"/>
                <a:ea typeface="IBM Plex Sans" pitchFamily="34" charset="-122"/>
                <a:cs typeface="IBM Plex Sans" pitchFamily="34" charset="-120"/>
              </a:rPr>
              <a:t>All of the following are true:</a:t>
            </a:r>
            <a:endParaRPr lang="en-US" sz="1400" dirty="0"/>
          </a:p>
        </p:txBody>
      </p:sp>
      <p:sp>
        <p:nvSpPr>
          <p:cNvPr id="17" name="Text 15"/>
          <p:cNvSpPr/>
          <p:nvPr/>
        </p:nvSpPr>
        <p:spPr>
          <a:xfrm>
            <a:off x="6510782" y="2908300"/>
            <a:ext cx="4773740" cy="101600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0E6B63"/>
                </a:solidFill>
                <a:latin typeface="IBM Plex Sans" pitchFamily="34" charset="0"/>
                <a:ea typeface="IBM Plex Sans" pitchFamily="34" charset="-122"/>
                <a:cs typeface="IBM Plex Sans" pitchFamily="34" charset="-120"/>
              </a:rPr>
              <a:t>deployment ▸ environment</a:t>
            </a:r>
            <a:r>
              <a:rPr lang="en-US" sz="1400" dirty="0">
                <a:solidFill>
                  <a:srgbClr val="0F1B2D"/>
                </a:solidFill>
                <a:latin typeface="IBM Plex Sans" pitchFamily="34" charset="0"/>
                <a:ea typeface="IBM Plex Sans" pitchFamily="34" charset="-122"/>
                <a:cs typeface="IBM Plex Sans" pitchFamily="34" charset="-120"/>
              </a:rPr>
              <a:t> is </a:t>
            </a:r>
            <a:r>
              <a:rPr lang="en-US" sz="1400" dirty="0">
                <a:solidFill>
                  <a:srgbClr val="0E6B63"/>
                </a:solidFill>
                <a:latin typeface="IBM Plex Sans" pitchFamily="34" charset="0"/>
                <a:ea typeface="IBM Plex Sans" pitchFamily="34" charset="-122"/>
                <a:cs typeface="IBM Plex Sans" pitchFamily="34" charset="-120"/>
              </a:rPr>
              <a:t>"production"</a:t>
            </a:r>
            <a:endParaRPr lang="en-US" sz="1400" dirty="0"/>
          </a:p>
          <a:p>
            <a:pPr algn="l" marL="175768" indent="-175768">
              <a:lnSpc>
                <a:spcPts val="1960"/>
              </a:lnSpc>
              <a:buSzPct val="100000"/>
              <a:buChar char="•"/>
            </a:pPr>
            <a:r>
              <a:rPr lang="en-US" sz="1400" dirty="0">
                <a:solidFill>
                  <a:srgbClr val="0F1B2D"/>
                </a:solidFill>
                <a:latin typeface="IBM Plex Sans" pitchFamily="34" charset="0"/>
                <a:ea typeface="IBM Plex Sans" pitchFamily="34" charset="-122"/>
                <a:cs typeface="IBM Plex Sans" pitchFamily="34" charset="-120"/>
              </a:rPr>
              <a:t>(the set of </a:t>
            </a:r>
            <a:r>
              <a:rPr lang="en-US" sz="1400" dirty="0">
                <a:solidFill>
                  <a:srgbClr val="0E6B63"/>
                </a:solidFill>
                <a:latin typeface="IBM Plex Sans" pitchFamily="34" charset="0"/>
                <a:ea typeface="IBM Plex Sans" pitchFamily="34" charset="-122"/>
                <a:cs typeface="IBM Plex Sans" pitchFamily="34" charset="-120"/>
              </a:rPr>
              <a:t>change ▸ approvals ▸ [each a]</a:t>
            </a:r>
            <a:r>
              <a:rPr lang="en-US" sz="1400" dirty="0">
                <a:solidFill>
                  <a:srgbClr val="0F1B2D"/>
                </a:solidFill>
                <a:latin typeface="IBM Plex Sans" pitchFamily="34" charset="0"/>
                <a:ea typeface="IBM Plex Sans" pitchFamily="34" charset="-122"/>
                <a:cs typeface="IBM Plex Sans" pitchFamily="34" charset="-120"/>
              </a:rPr>
              <a:t> such that for some a in </a:t>
            </a:r>
            <a:r>
              <a:rPr lang="en-US" sz="1400" dirty="0">
                <a:solidFill>
                  <a:srgbClr val="0E6B63"/>
                </a:solidFill>
                <a:latin typeface="IBM Plex Sans" pitchFamily="34" charset="0"/>
                <a:ea typeface="IBM Plex Sans" pitchFamily="34" charset="-122"/>
                <a:cs typeface="IBM Plex Sans" pitchFamily="34" charset="-120"/>
              </a:rPr>
              <a:t>change ▸ approvals</a:t>
            </a:r>
            <a:r>
              <a:rPr lang="en-US" sz="1400" dirty="0">
                <a:solidFill>
                  <a:srgbClr val="0F1B2D"/>
                </a:solidFill>
                <a:latin typeface="IBM Plex Sans" pitchFamily="34" charset="0"/>
                <a:ea typeface="IBM Plex Sans" pitchFamily="34" charset="-122"/>
                <a:cs typeface="IBM Plex Sans" pitchFamily="34" charset="-120"/>
              </a:rPr>
              <a:t>; </a:t>
            </a:r>
            <a:r>
              <a:rPr lang="en-US" sz="1400" dirty="0">
                <a:solidFill>
                  <a:srgbClr val="0E6B63"/>
                </a:solidFill>
                <a:latin typeface="IBM Plex Sans" pitchFamily="34" charset="0"/>
                <a:ea typeface="IBM Plex Sans" pitchFamily="34" charset="-122"/>
                <a:cs typeface="IBM Plex Sans" pitchFamily="34" charset="-120"/>
              </a:rPr>
              <a:t>change ▸ approvals ▸ [each a] ▸ role</a:t>
            </a:r>
            <a:r>
              <a:rPr lang="en-US" sz="1400" dirty="0">
                <a:solidFill>
                  <a:srgbClr val="0F1B2D"/>
                </a:solidFill>
                <a:latin typeface="IBM Plex Sans" pitchFamily="34" charset="0"/>
                <a:ea typeface="IBM Plex Sans" pitchFamily="34" charset="-122"/>
                <a:cs typeface="IBM Plex Sans" pitchFamily="34" charset="-120"/>
              </a:rPr>
              <a:t> is </a:t>
            </a:r>
            <a:r>
              <a:rPr lang="en-US" sz="1400" dirty="0">
                <a:solidFill>
                  <a:srgbClr val="0E6B63"/>
                </a:solidFill>
                <a:latin typeface="IBM Plex Sans" pitchFamily="34" charset="0"/>
                <a:ea typeface="IBM Plex Sans" pitchFamily="34" charset="-122"/>
                <a:cs typeface="IBM Plex Sans" pitchFamily="34" charset="-120"/>
              </a:rPr>
              <a:t>"release-manager"</a:t>
            </a:r>
            <a:r>
              <a:rPr lang="en-US" sz="1400" dirty="0">
                <a:solidFill>
                  <a:srgbClr val="0F1B2D"/>
                </a:solidFill>
                <a:latin typeface="IBM Plex Sans" pitchFamily="34" charset="0"/>
                <a:ea typeface="IBM Plex Sans" pitchFamily="34" charset="-122"/>
                <a:cs typeface="IBM Plex Sans" pitchFamily="34" charset="-120"/>
              </a:rPr>
              <a:t>) is empty</a:t>
            </a:r>
            <a:endParaRPr lang="en-US" sz="1400" dirty="0"/>
          </a:p>
        </p:txBody>
      </p:sp>
      <p:sp>
        <p:nvSpPr>
          <p:cNvPr id="18" name="Text 16"/>
          <p:cNvSpPr/>
          <p:nvPr/>
        </p:nvSpPr>
        <p:spPr>
          <a:xfrm>
            <a:off x="6432550" y="4013200"/>
            <a:ext cx="4859592"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Produces: “no release manager approval is recorded”</a:t>
            </a:r>
            <a:endParaRPr lang="en-US" sz="1400" dirty="0"/>
          </a:p>
        </p:txBody>
      </p:sp>
      <p:sp>
        <p:nvSpPr>
          <p:cNvPr id="19" name="Text 17"/>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0E6B63"/>
                </a:solidFill>
                <a:latin typeface="IBM Plex Sans" pitchFamily="34" charset="0"/>
                <a:ea typeface="IBM Plex Sans" pitchFamily="34" charset="-122"/>
                <a:cs typeface="IBM Plex Sans" pitchFamily="34" charset="-120"/>
              </a:rPr>
              <a:t>THE GUARANTEE IN PRACTICE</a:t>
            </a:r>
            <a:endParaRPr lang="en-US" sz="1400" dirty="0"/>
          </a:p>
        </p:txBody>
      </p:sp>
      <p:sp>
        <p:nvSpPr>
          <p:cNvPr id="3" name="Text 1"/>
          <p:cNvSpPr/>
          <p:nvPr>
            <p:ph type="title"/>
          </p:nvPr>
        </p:nvSpPr>
        <p:spPr>
          <a:xfrm>
            <a:off x="812800" y="13652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What it can’t render, it says so</a:t>
            </a:r>
            <a:endParaRPr lang="en-US" sz="3600" dirty="0"/>
          </a:p>
        </p:txBody>
      </p:sp>
      <p:sp>
        <p:nvSpPr>
          <p:cNvPr id="4" name="Shape 2"/>
          <p:cNvSpPr/>
          <p:nvPr/>
        </p:nvSpPr>
        <p:spPr>
          <a:xfrm>
            <a:off x="819150" y="2178050"/>
            <a:ext cx="5384800" cy="2622550"/>
          </a:xfrm>
          <a:prstGeom prst="roundRect">
            <a:avLst>
              <a:gd name="adj" fmla="val 3632"/>
            </a:avLst>
          </a:prstGeom>
          <a:solidFill>
            <a:srgbClr val="FFF6E0"/>
          </a:solidFill>
          <a:ln w="12700">
            <a:solidFill>
              <a:srgbClr val="E0A030"/>
            </a:solidFill>
            <a:prstDash val="solid"/>
          </a:ln>
        </p:spPr>
      </p:sp>
      <p:sp>
        <p:nvSpPr>
          <p:cNvPr id="5" name="Text 3"/>
          <p:cNvSpPr/>
          <p:nvPr/>
        </p:nvSpPr>
        <p:spPr>
          <a:xfrm>
            <a:off x="1054100" y="2413000"/>
            <a:ext cx="506234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8A5300"/>
                </a:solidFill>
                <a:latin typeface="IBM Plex Sans" pitchFamily="34" charset="0"/>
                <a:ea typeface="IBM Plex Sans" pitchFamily="34" charset="-122"/>
                <a:cs typeface="IBM Plex Sans" pitchFamily="34" charset="-120"/>
              </a:rPr>
              <a:t>⚠ not rendered — shown as source:</a:t>
            </a:r>
            <a:endParaRPr lang="en-US" sz="1500" dirty="0"/>
          </a:p>
        </p:txBody>
      </p:sp>
      <p:sp>
        <p:nvSpPr>
          <p:cNvPr id="6" name="Shape 4"/>
          <p:cNvSpPr/>
          <p:nvPr/>
        </p:nvSpPr>
        <p:spPr>
          <a:xfrm>
            <a:off x="1054100" y="2787650"/>
            <a:ext cx="4914900" cy="1066800"/>
          </a:xfrm>
          <a:prstGeom prst="roundRect">
            <a:avLst>
              <a:gd name="adj" fmla="val 7143"/>
            </a:avLst>
          </a:prstGeom>
          <a:solidFill>
            <a:srgbClr val="0F1B2D"/>
          </a:solidFill>
          <a:ln/>
        </p:spPr>
      </p:sp>
      <p:sp>
        <p:nvSpPr>
          <p:cNvPr id="7" name="Text 5"/>
          <p:cNvSpPr/>
          <p:nvPr/>
        </p:nvSpPr>
        <p:spPr>
          <a:xfrm>
            <a:off x="1231900" y="2965450"/>
            <a:ext cx="4696079"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every check in input.pipeline.checks {</a:t>
            </a:r>
            <a:endParaRPr lang="en-US" sz="1200" dirty="0"/>
          </a:p>
        </p:txBody>
      </p:sp>
      <p:sp>
        <p:nvSpPr>
          <p:cNvPr id="8" name="Text 6"/>
          <p:cNvSpPr/>
          <p:nvPr/>
        </p:nvSpPr>
        <p:spPr>
          <a:xfrm>
            <a:off x="1409700" y="3219450"/>
            <a:ext cx="4512945"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check.status == "passed"</a:t>
            </a:r>
            <a:endParaRPr lang="en-US" sz="1200" dirty="0"/>
          </a:p>
        </p:txBody>
      </p:sp>
      <p:sp>
        <p:nvSpPr>
          <p:cNvPr id="9" name="Text 7"/>
          <p:cNvSpPr/>
          <p:nvPr/>
        </p:nvSpPr>
        <p:spPr>
          <a:xfrm>
            <a:off x="1231900" y="3473450"/>
            <a:ext cx="4696079"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a:t>
            </a:r>
            <a:endParaRPr lang="en-US" sz="1200" dirty="0"/>
          </a:p>
        </p:txBody>
      </p:sp>
      <p:sp>
        <p:nvSpPr>
          <p:cNvPr id="10" name="Text 8"/>
          <p:cNvSpPr/>
          <p:nvPr/>
        </p:nvSpPr>
        <p:spPr>
          <a:xfrm>
            <a:off x="1054100" y="3981450"/>
            <a:ext cx="5062347"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Rendering coverage: 0 of 1 conditions</a:t>
            </a:r>
            <a:endParaRPr lang="en-US" sz="1300" dirty="0"/>
          </a:p>
        </p:txBody>
      </p:sp>
      <p:sp>
        <p:nvSpPr>
          <p:cNvPr id="11" name="Text 9"/>
          <p:cNvSpPr/>
          <p:nvPr/>
        </p:nvSpPr>
        <p:spPr>
          <a:xfrm>
            <a:off x="1054100" y="4337050"/>
            <a:ext cx="5062347"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Package rendering coverage: 8 of 9 conditions (88%)</a:t>
            </a:r>
            <a:endParaRPr lang="en-US" sz="1300" dirty="0"/>
          </a:p>
        </p:txBody>
      </p:sp>
      <p:sp>
        <p:nvSpPr>
          <p:cNvPr id="12" name="Text 10"/>
          <p:cNvSpPr/>
          <p:nvPr/>
        </p:nvSpPr>
        <p:spPr>
          <a:xfrm>
            <a:off x="6464300" y="2454275"/>
            <a:ext cx="5062347" cy="59690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F1B2D"/>
                </a:solidFill>
                <a:latin typeface="IBM Plex Sans" pitchFamily="34" charset="0"/>
                <a:ea typeface="IBM Plex Sans" pitchFamily="34" charset="-122"/>
                <a:cs typeface="IBM Plex Sans" pitchFamily="34" charset="-120"/>
              </a:rPr>
              <a:t>Coverage is reported on every card and every package.</a:t>
            </a:r>
            <a:endParaRPr lang="en-US" sz="1700" dirty="0"/>
          </a:p>
        </p:txBody>
      </p:sp>
      <p:sp>
        <p:nvSpPr>
          <p:cNvPr id="13" name="Text 11"/>
          <p:cNvSpPr/>
          <p:nvPr/>
        </p:nvSpPr>
        <p:spPr>
          <a:xfrm>
            <a:off x="6464300" y="3203575"/>
            <a:ext cx="5062347" cy="59690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F1B2D"/>
                </a:solidFill>
                <a:latin typeface="IBM Plex Sans" pitchFamily="34" charset="0"/>
                <a:ea typeface="IBM Plex Sans" pitchFamily="34" charset="-122"/>
                <a:cs typeface="IBM Plex Sans" pitchFamily="34" charset="-120"/>
              </a:rPr>
              <a:t>A comprehension renders only when every part of it does, never half of one.</a:t>
            </a:r>
            <a:endParaRPr lang="en-US" sz="1700" dirty="0"/>
          </a:p>
        </p:txBody>
      </p:sp>
      <p:sp>
        <p:nvSpPr>
          <p:cNvPr id="14" name="Text 12"/>
          <p:cNvSpPr/>
          <p:nvPr/>
        </p:nvSpPr>
        <p:spPr>
          <a:xfrm>
            <a:off x="6464300" y="3952875"/>
            <a:ext cx="5062347" cy="59690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0F1B2D"/>
                </a:solidFill>
                <a:latin typeface="IBM Plex Sans" pitchFamily="34" charset="0"/>
                <a:ea typeface="IBM Plex Sans" pitchFamily="34" charset="-122"/>
                <a:cs typeface="IBM Plex Sans" pitchFamily="34" charset="-120"/>
              </a:rPr>
              <a:t>A fallback means “read this bit yourself”, not “something is broken”.</a:t>
            </a:r>
            <a:endParaRPr lang="en-US" sz="1700" dirty="0"/>
          </a:p>
        </p:txBody>
      </p:sp>
      <p:sp>
        <p:nvSpPr>
          <p:cNvPr id="15" name="Text 13"/>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FD3C3"/>
                </a:solidFill>
                <a:latin typeface="IBM Plex Sans" pitchFamily="34" charset="0"/>
                <a:ea typeface="IBM Plex Sans" pitchFamily="34" charset="-122"/>
                <a:cs typeface="IBM Plex Sans" pitchFamily="34" charset="-120"/>
              </a:rPr>
              <a:t>WORKED EXAMPLES</a:t>
            </a:r>
            <a:endParaRPr lang="en-US" sz="1400" dirty="0"/>
          </a:p>
        </p:txBody>
      </p:sp>
      <p:sp>
        <p:nvSpPr>
          <p:cNvPr id="3" name="Text 1"/>
          <p:cNvSpPr/>
          <p:nvPr>
            <p:ph type="title"/>
          </p:nvPr>
        </p:nvSpPr>
        <p:spPr>
          <a:xfrm>
            <a:off x="812800" y="13652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IBM Plex Sans" pitchFamily="34" charset="0"/>
                <a:ea typeface="IBM Plex Sans" pitchFamily="34" charset="-122"/>
                <a:cs typeface="IBM Plex Sans" pitchFamily="34" charset="-120"/>
              </a:rPr>
              <a:t>Evaluated by OPA, never predicted</a:t>
            </a:r>
            <a:endParaRPr lang="en-US" sz="3600" dirty="0"/>
          </a:p>
        </p:txBody>
      </p:sp>
      <p:sp>
        <p:nvSpPr>
          <p:cNvPr id="4" name="Shape 2"/>
          <p:cNvSpPr/>
          <p:nvPr/>
        </p:nvSpPr>
        <p:spPr>
          <a:xfrm>
            <a:off x="815975" y="2174875"/>
            <a:ext cx="5832177" cy="2819400"/>
          </a:xfrm>
          <a:prstGeom prst="roundRect">
            <a:avLst>
              <a:gd name="adj" fmla="val 3491"/>
            </a:avLst>
          </a:prstGeom>
          <a:solidFill>
            <a:srgbClr val="16263D"/>
          </a:solidFill>
          <a:ln w="6350">
            <a:solidFill>
              <a:srgbClr val="2A3E5C"/>
            </a:solidFill>
            <a:prstDash val="solid"/>
          </a:ln>
        </p:spPr>
      </p:sp>
      <p:sp>
        <p:nvSpPr>
          <p:cNvPr id="5" name="Text 3"/>
          <p:cNvSpPr/>
          <p:nvPr/>
        </p:nvSpPr>
        <p:spPr>
          <a:xfrm>
            <a:off x="1047750" y="2406650"/>
            <a:ext cx="552968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From the rendered REL-004 card</a:t>
            </a:r>
            <a:endParaRPr lang="en-US" sz="1200" dirty="0"/>
          </a:p>
        </p:txBody>
      </p:sp>
      <p:sp>
        <p:nvSpPr>
          <p:cNvPr id="6" name="Text 4"/>
          <p:cNvSpPr/>
          <p:nvPr/>
        </p:nvSpPr>
        <p:spPr>
          <a:xfrm>
            <a:off x="1047750" y="2755900"/>
            <a:ext cx="5529686" cy="27940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7F5EF"/>
                </a:solidFill>
                <a:latin typeface="IBM Plex Sans" pitchFamily="34" charset="0"/>
                <a:ea typeface="IBM Plex Sans" pitchFamily="34" charset="-122"/>
                <a:cs typeface="IBM Plex Sans" pitchFamily="34" charset="-120"/>
              </a:rPr>
              <a:t>unsigned artifact in freeze window — </a:t>
            </a:r>
            <a:r>
              <a:rPr lang="en-US" sz="1500" b="1" dirty="0">
                <a:solidFill>
                  <a:srgbClr val="F2B84B"/>
                </a:solidFill>
                <a:latin typeface="IBM Plex Sans" pitchFamily="34" charset="0"/>
                <a:ea typeface="IBM Plex Sans" pitchFamily="34" charset="-122"/>
                <a:cs typeface="IBM Plex Sans" pitchFamily="34" charset="-120"/>
              </a:rPr>
              <a:t>denied</a:t>
            </a:r>
            <a:endParaRPr lang="en-US" sz="1500" dirty="0"/>
          </a:p>
        </p:txBody>
      </p:sp>
      <p:sp>
        <p:nvSpPr>
          <p:cNvPr id="7" name="Text 5"/>
          <p:cNvSpPr/>
          <p:nvPr/>
        </p:nvSpPr>
        <p:spPr>
          <a:xfrm>
            <a:off x="1225550" y="3149600"/>
            <a:ext cx="5346552"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IBM Plex Sans" pitchFamily="34" charset="0"/>
                <a:ea typeface="IBM Plex Sans" pitchFamily="34" charset="-122"/>
                <a:cs typeface="IBM Plex Sans" pitchFamily="34" charset="-120"/>
              </a:rPr>
              <a:t>“deployment falls inside freeze window year-end change freeze” (Situation 2)</a:t>
            </a:r>
            <a:endParaRPr lang="en-US" sz="1300" dirty="0"/>
          </a:p>
        </p:txBody>
      </p:sp>
      <p:sp>
        <p:nvSpPr>
          <p:cNvPr id="8" name="Text 6"/>
          <p:cNvSpPr/>
          <p:nvPr/>
        </p:nvSpPr>
        <p:spPr>
          <a:xfrm>
            <a:off x="1225550" y="3746500"/>
            <a:ext cx="5346552" cy="2540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IBM Plex Sans" pitchFamily="34" charset="0"/>
                <a:ea typeface="IBM Plex Sans" pitchFamily="34" charset="-122"/>
                <a:cs typeface="IBM Plex Sans" pitchFamily="34" charset="-120"/>
              </a:rPr>
              <a:t>“no release manager approval is recorded” (Situation 1)</a:t>
            </a:r>
            <a:endParaRPr lang="en-US" sz="1300" dirty="0"/>
          </a:p>
        </p:txBody>
      </p:sp>
      <p:sp>
        <p:nvSpPr>
          <p:cNvPr id="9" name="Text 7"/>
          <p:cNvSpPr/>
          <p:nvPr/>
        </p:nvSpPr>
        <p:spPr>
          <a:xfrm>
            <a:off x="1047750" y="4114800"/>
            <a:ext cx="5529686" cy="27940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7F5EF"/>
                </a:solidFill>
                <a:latin typeface="IBM Plex Sans" pitchFamily="34" charset="0"/>
                <a:ea typeface="IBM Plex Sans" pitchFamily="34" charset="-122"/>
                <a:cs typeface="IBM Plex Sans" pitchFamily="34" charset="-120"/>
              </a:rPr>
              <a:t>approved standard release — </a:t>
            </a:r>
            <a:r>
              <a:rPr lang="en-US" sz="1500" b="1" dirty="0">
                <a:solidFill>
                  <a:srgbClr val="5FD3C3"/>
                </a:solidFill>
                <a:latin typeface="IBM Plex Sans" pitchFamily="34" charset="0"/>
                <a:ea typeface="IBM Plex Sans" pitchFamily="34" charset="-122"/>
                <a:cs typeface="IBM Plex Sans" pitchFamily="34" charset="-120"/>
              </a:rPr>
              <a:t>allowed</a:t>
            </a:r>
            <a:endParaRPr lang="en-US" sz="1500" dirty="0"/>
          </a:p>
        </p:txBody>
      </p:sp>
      <p:sp>
        <p:nvSpPr>
          <p:cNvPr id="10" name="Text 8"/>
          <p:cNvSpPr/>
          <p:nvPr/>
        </p:nvSpPr>
        <p:spPr>
          <a:xfrm>
            <a:off x="1047750" y="4508500"/>
            <a:ext cx="5529686" cy="27940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7F5EF"/>
                </a:solidFill>
                <a:latin typeface="IBM Plex Sans" pitchFamily="34" charset="0"/>
                <a:ea typeface="IBM Plex Sans" pitchFamily="34" charset="-122"/>
                <a:cs typeface="IBM Plex Sans" pitchFamily="34" charset="-120"/>
              </a:rPr>
              <a:t>hotfix without change ticket — </a:t>
            </a:r>
            <a:r>
              <a:rPr lang="en-US" sz="1500" b="1" dirty="0">
                <a:solidFill>
                  <a:srgbClr val="5FD3C3"/>
                </a:solidFill>
                <a:latin typeface="IBM Plex Sans" pitchFamily="34" charset="0"/>
                <a:ea typeface="IBM Plex Sans" pitchFamily="34" charset="-122"/>
                <a:cs typeface="IBM Plex Sans" pitchFamily="34" charset="-120"/>
              </a:rPr>
              <a:t>allowed</a:t>
            </a:r>
            <a:endParaRPr lang="en-US" sz="1500" dirty="0"/>
          </a:p>
        </p:txBody>
      </p:sp>
      <p:sp>
        <p:nvSpPr>
          <p:cNvPr id="11" name="Text 9"/>
          <p:cNvSpPr/>
          <p:nvPr/>
        </p:nvSpPr>
        <p:spPr>
          <a:xfrm>
            <a:off x="6905327" y="2692400"/>
            <a:ext cx="4608089" cy="311150"/>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5FD3C3"/>
                </a:solidFill>
                <a:latin typeface="IBM Plex Sans" pitchFamily="34" charset="0"/>
                <a:ea typeface="IBM Plex Sans" pitchFamily="34" charset="-122"/>
                <a:cs typeface="IBM Plex Sans" pitchFamily="34" charset="-120"/>
              </a:rPr>
              <a:t>1</a:t>
            </a:r>
            <a:r>
              <a:rPr lang="en-US" sz="1700" dirty="0">
                <a:solidFill>
                  <a:srgbClr val="F7F5EF"/>
                </a:solidFill>
                <a:latin typeface="IBM Plex Sans" pitchFamily="34" charset="0"/>
                <a:ea typeface="IBM Plex Sans" pitchFamily="34" charset="-122"/>
                <a:cs typeface="IBM Plex Sans" pitchFamily="34" charset="-120"/>
              </a:rPr>
              <a:t> You write small JSON fixtures.</a:t>
            </a:r>
            <a:endParaRPr lang="en-US" sz="1700" dirty="0"/>
          </a:p>
        </p:txBody>
      </p:sp>
      <p:sp>
        <p:nvSpPr>
          <p:cNvPr id="12" name="Text 10"/>
          <p:cNvSpPr/>
          <p:nvPr/>
        </p:nvSpPr>
        <p:spPr>
          <a:xfrm>
            <a:off x="6905327" y="3155950"/>
            <a:ext cx="4608089" cy="596900"/>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5FD3C3"/>
                </a:solidFill>
                <a:latin typeface="IBM Plex Sans" pitchFamily="34" charset="0"/>
                <a:ea typeface="IBM Plex Sans" pitchFamily="34" charset="-122"/>
                <a:cs typeface="IBM Plex Sans" pitchFamily="34" charset="-120"/>
              </a:rPr>
              <a:t>2</a:t>
            </a:r>
            <a:r>
              <a:rPr lang="en-US" sz="1700" dirty="0">
                <a:solidFill>
                  <a:srgbClr val="F7F5EF"/>
                </a:solidFill>
                <a:latin typeface="IBM Plex Sans" pitchFamily="34" charset="0"/>
                <a:ea typeface="IBM Plex Sans" pitchFamily="34" charset="-122"/>
                <a:cs typeface="IBM Plex Sans" pitchFamily="34" charset="-120"/>
              </a:rPr>
              <a:t> opa eval runs each one against the policy at generation time.</a:t>
            </a:r>
            <a:endParaRPr lang="en-US" sz="1700" dirty="0"/>
          </a:p>
        </p:txBody>
      </p:sp>
      <p:sp>
        <p:nvSpPr>
          <p:cNvPr id="13" name="Text 11"/>
          <p:cNvSpPr/>
          <p:nvPr/>
        </p:nvSpPr>
        <p:spPr>
          <a:xfrm>
            <a:off x="6905327" y="3905250"/>
            <a:ext cx="4608089" cy="596900"/>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5FD3C3"/>
                </a:solidFill>
                <a:latin typeface="IBM Plex Sans" pitchFamily="34" charset="0"/>
                <a:ea typeface="IBM Plex Sans" pitchFamily="34" charset="-122"/>
                <a:cs typeface="IBM Plex Sans" pitchFamily="34" charset="-120"/>
              </a:rPr>
              <a:t>3</a:t>
            </a:r>
            <a:r>
              <a:rPr lang="en-US" sz="1700" dirty="0">
                <a:solidFill>
                  <a:srgbClr val="F7F5EF"/>
                </a:solidFill>
                <a:latin typeface="IBM Plex Sans" pitchFamily="34" charset="0"/>
                <a:ea typeface="IBM Plex Sans" pitchFamily="34" charset="-122"/>
                <a:cs typeface="IBM Plex Sans" pitchFamily="34" charset="-120"/>
              </a:rPr>
              <a:t> Each message is matched back to the situation that produced it.</a:t>
            </a:r>
            <a:endParaRPr lang="en-US" sz="1700" dirty="0"/>
          </a:p>
        </p:txBody>
      </p:sp>
      <p:sp>
        <p:nvSpPr>
          <p:cNvPr id="14" name="Text 12"/>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0E6B63"/>
                </a:solidFill>
                <a:latin typeface="IBM Plex Sans" pitchFamily="34" charset="0"/>
                <a:ea typeface="IBM Plex Sans" pitchFamily="34" charset="-122"/>
                <a:cs typeface="IBM Plex Sans" pitchFamily="34" charset="-120"/>
              </a:rPr>
              <a:t>CHANGE REVIEW</a:t>
            </a:r>
            <a:endParaRPr lang="en-US" sz="1400" dirty="0"/>
          </a:p>
        </p:txBody>
      </p:sp>
      <p:sp>
        <p:nvSpPr>
          <p:cNvPr id="3" name="Text 1"/>
          <p:cNvSpPr/>
          <p:nvPr>
            <p:ph type="title"/>
          </p:nvPr>
        </p:nvSpPr>
        <p:spPr>
          <a:xfrm>
            <a:off x="812800" y="13398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A semantic diff, not a text diff</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33600"/>
          <a:ext cx="10553700" cy="2476500"/>
        </p:xfrm>
        <a:graphic>
          <a:graphicData uri="http://schemas.openxmlformats.org/drawingml/2006/table">
            <a:tbl>
              <a:tblPr/>
              <a:tblGrid>
                <a:gridCol w="2955036"/>
                <a:gridCol w="7598664"/>
              </a:tblGrid>
              <a:tr h="412750">
                <a:tc>
                  <a:txBody>
                    <a:bodyPr/>
                    <a:lstStyle/>
                    <a:p>
                      <a:pP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Category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indent="0" marL="0">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What the report shows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r>
              <a:tr h="412750">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ADDED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The new control’s full card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REMOVED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A removal notice and the old card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LOGIC_CHANGED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The rule’s old and new source as a unified diff</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DOCS_CHANGED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A before and after table of title, description and frameworks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UNCHANGED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IBM Plex Sans" pitchFamily="34" charset="0"/>
                          <a:ea typeface="IBM Plex Sans" pitchFamily="34" charset="-122"/>
                          <a:cs typeface="IBM Plex Sans" pitchFamily="34" charset="-120"/>
                        </a:rPr>
                        <a:t>Nothing at all</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889500"/>
            <a:ext cx="5310886"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Reformatting, comments and variable renames do not register as changes.</a:t>
            </a:r>
            <a:endParaRPr lang="en-US" sz="1600" dirty="0"/>
          </a:p>
        </p:txBody>
      </p:sp>
      <p:sp>
        <p:nvSpPr>
          <p:cNvPr id="6" name="Text 3"/>
          <p:cNvSpPr/>
          <p:nvPr/>
        </p:nvSpPr>
        <p:spPr>
          <a:xfrm>
            <a:off x="6223000" y="4889500"/>
            <a:ext cx="5310886"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Controls are matched by control-id, so renaming a rule keeps its history.</a:t>
            </a:r>
            <a:endParaRPr lang="en-US" sz="1600" dirty="0"/>
          </a:p>
        </p:txBody>
      </p:sp>
      <p:sp>
        <p:nvSpPr>
          <p:cNvPr id="7" name="Text 4"/>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FD3C3"/>
                </a:solidFill>
                <a:latin typeface="IBM Plex Sans" pitchFamily="34" charset="0"/>
                <a:ea typeface="IBM Plex Sans" pitchFamily="34" charset="-122"/>
                <a:cs typeface="IBM Plex Sans" pitchFamily="34" charset="-120"/>
              </a:rPr>
              <a:t>USING IT</a:t>
            </a:r>
            <a:endParaRPr lang="en-US" sz="1400" dirty="0"/>
          </a:p>
        </p:txBody>
      </p:sp>
      <p:sp>
        <p:nvSpPr>
          <p:cNvPr id="3" name="Text 1"/>
          <p:cNvSpPr/>
          <p:nvPr>
            <p:ph type="title"/>
          </p:nvPr>
        </p:nvSpPr>
        <p:spPr>
          <a:xfrm>
            <a:off x="812800" y="13398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IBM Plex Sans" pitchFamily="34" charset="0"/>
                <a:ea typeface="IBM Plex Sans" pitchFamily="34" charset="-122"/>
                <a:cs typeface="IBM Plex Sans" pitchFamily="34" charset="-120"/>
              </a:rPr>
              <a:t>A command line, or a library call</a:t>
            </a:r>
            <a:endParaRPr lang="en-US" sz="3600" dirty="0"/>
          </a:p>
        </p:txBody>
      </p:sp>
      <p:sp>
        <p:nvSpPr>
          <p:cNvPr id="4" name="Shape 2"/>
          <p:cNvSpPr/>
          <p:nvPr/>
        </p:nvSpPr>
        <p:spPr>
          <a:xfrm>
            <a:off x="815975" y="2124075"/>
            <a:ext cx="5175250" cy="1968500"/>
          </a:xfrm>
          <a:prstGeom prst="roundRect">
            <a:avLst>
              <a:gd name="adj" fmla="val 5000"/>
            </a:avLst>
          </a:prstGeom>
          <a:solidFill>
            <a:srgbClr val="16263D"/>
          </a:solidFill>
          <a:ln w="6350">
            <a:solidFill>
              <a:srgbClr val="2A3E5C"/>
            </a:solidFill>
            <a:prstDash val="solid"/>
          </a:ln>
        </p:spPr>
      </p:sp>
      <p:sp>
        <p:nvSpPr>
          <p:cNvPr id="5" name="Text 3"/>
          <p:cNvSpPr/>
          <p:nvPr/>
        </p:nvSpPr>
        <p:spPr>
          <a:xfrm>
            <a:off x="1047750" y="2355850"/>
            <a:ext cx="485305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Command line</a:t>
            </a:r>
            <a:endParaRPr lang="en-US" sz="1200" dirty="0"/>
          </a:p>
        </p:txBody>
      </p:sp>
      <p:sp>
        <p:nvSpPr>
          <p:cNvPr id="6" name="Text 4"/>
          <p:cNvSpPr/>
          <p:nvPr/>
        </p:nvSpPr>
        <p:spPr>
          <a:xfrm>
            <a:off x="1047750" y="2679700"/>
            <a:ext cx="4853051"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explico render policies --out docs \</a:t>
            </a:r>
            <a:endParaRPr lang="en-US" sz="1200" dirty="0"/>
          </a:p>
        </p:txBody>
      </p:sp>
      <p:sp>
        <p:nvSpPr>
          <p:cNvPr id="7" name="Text 5"/>
          <p:cNvSpPr/>
          <p:nvPr/>
        </p:nvSpPr>
        <p:spPr>
          <a:xfrm>
            <a:off x="1403350" y="2946400"/>
            <a:ext cx="4486783"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--examples examples --data data.json</a:t>
            </a:r>
            <a:endParaRPr lang="en-US" sz="1200" dirty="0"/>
          </a:p>
        </p:txBody>
      </p:sp>
      <p:sp>
        <p:nvSpPr>
          <p:cNvPr id="8" name="Text 6"/>
          <p:cNvSpPr/>
          <p:nvPr/>
        </p:nvSpPr>
        <p:spPr>
          <a:xfrm>
            <a:off x="1047750" y="3302000"/>
            <a:ext cx="4853051"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explico diff old/ new/ --out report.md</a:t>
            </a:r>
            <a:endParaRPr lang="en-US" sz="1200" dirty="0"/>
          </a:p>
        </p:txBody>
      </p:sp>
      <p:sp>
        <p:nvSpPr>
          <p:cNvPr id="9" name="Text 7"/>
          <p:cNvSpPr/>
          <p:nvPr/>
        </p:nvSpPr>
        <p:spPr>
          <a:xfrm>
            <a:off x="1047750" y="3657600"/>
            <a:ext cx="4853051"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explico demo</a:t>
            </a:r>
            <a:endParaRPr lang="en-US" sz="1200" dirty="0"/>
          </a:p>
        </p:txBody>
      </p:sp>
      <p:sp>
        <p:nvSpPr>
          <p:cNvPr id="10" name="Shape 8"/>
          <p:cNvSpPr/>
          <p:nvPr/>
        </p:nvSpPr>
        <p:spPr>
          <a:xfrm>
            <a:off x="6200775" y="2124075"/>
            <a:ext cx="5175250" cy="1968500"/>
          </a:xfrm>
          <a:prstGeom prst="roundRect">
            <a:avLst>
              <a:gd name="adj" fmla="val 5000"/>
            </a:avLst>
          </a:prstGeom>
          <a:solidFill>
            <a:srgbClr val="16263D"/>
          </a:solidFill>
          <a:ln w="6350">
            <a:solidFill>
              <a:srgbClr val="2A3E5C"/>
            </a:solidFill>
            <a:prstDash val="solid"/>
          </a:ln>
        </p:spPr>
      </p:sp>
      <p:sp>
        <p:nvSpPr>
          <p:cNvPr id="11" name="Text 9"/>
          <p:cNvSpPr/>
          <p:nvPr/>
        </p:nvSpPr>
        <p:spPr>
          <a:xfrm>
            <a:off x="6432550" y="2355850"/>
            <a:ext cx="485305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Kotlin or Java</a:t>
            </a:r>
            <a:endParaRPr lang="en-US" sz="1200" dirty="0"/>
          </a:p>
        </p:txBody>
      </p:sp>
      <p:sp>
        <p:nvSpPr>
          <p:cNvPr id="12" name="Text 10"/>
          <p:cNvSpPr/>
          <p:nvPr/>
        </p:nvSpPr>
        <p:spPr>
          <a:xfrm>
            <a:off x="6432550" y="2679700"/>
            <a:ext cx="4853051"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val policies = Explico.load(policyDir)</a:t>
            </a:r>
            <a:endParaRPr lang="en-US" sz="1200" dirty="0"/>
          </a:p>
        </p:txBody>
      </p:sp>
      <p:sp>
        <p:nvSpPr>
          <p:cNvPr id="13" name="Text 11"/>
          <p:cNvSpPr/>
          <p:nvPr/>
        </p:nvSpPr>
        <p:spPr>
          <a:xfrm>
            <a:off x="6432550" y="2946400"/>
            <a:ext cx="4853051"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val docs = Explico.render(policies, policyDir)</a:t>
            </a:r>
            <a:endParaRPr lang="en-US" sz="1200" dirty="0"/>
          </a:p>
        </p:txBody>
      </p:sp>
      <p:sp>
        <p:nvSpPr>
          <p:cNvPr id="14" name="Text 12"/>
          <p:cNvSpPr/>
          <p:nvPr/>
        </p:nvSpPr>
        <p:spPr>
          <a:xfrm>
            <a:off x="6432550" y="3302000"/>
            <a:ext cx="4853051"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docs.files // name to Markdown</a:t>
            </a:r>
            <a:endParaRPr lang="en-US" sz="1200" dirty="0"/>
          </a:p>
        </p:txBody>
      </p:sp>
      <p:sp>
        <p:nvSpPr>
          <p:cNvPr id="15" name="Text 13"/>
          <p:cNvSpPr/>
          <p:nvPr/>
        </p:nvSpPr>
        <p:spPr>
          <a:xfrm>
            <a:off x="6432550" y="3568700"/>
            <a:ext cx="4853051"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docs.coverage.percent</a:t>
            </a:r>
            <a:endParaRPr lang="en-US" sz="1200" dirty="0"/>
          </a:p>
        </p:txBody>
      </p:sp>
      <p:sp>
        <p:nvSpPr>
          <p:cNvPr id="16" name="Text 14"/>
          <p:cNvSpPr/>
          <p:nvPr/>
        </p:nvSpPr>
        <p:spPr>
          <a:xfrm>
            <a:off x="812800" y="4375150"/>
            <a:ext cx="11379200" cy="304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A"/>
                </a:solidFill>
                <a:latin typeface="IBM Plex Sans" pitchFamily="34" charset="0"/>
                <a:ea typeface="IBM Plex Sans" pitchFamily="34" charset="-122"/>
                <a:cs typeface="IBM Plex Sans" pitchFamily="34" charset="-120"/>
              </a:rPr>
              <a:t>Needs Java 17 or newer and the opa 1.x binary. Policies in the legacy Rego v0 syntax work with --rego-version v0.</a:t>
            </a:r>
            <a:endParaRPr lang="en-US" sz="1600" dirty="0"/>
          </a:p>
        </p:txBody>
      </p:sp>
      <p:sp>
        <p:nvSpPr>
          <p:cNvPr id="17" name="Text 15"/>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FD3C3"/>
                </a:solidFill>
                <a:latin typeface="IBM Plex Sans" pitchFamily="34" charset="0"/>
                <a:ea typeface="IBM Plex Sans" pitchFamily="34" charset="-122"/>
                <a:cs typeface="IBM Plex Sans" pitchFamily="34" charset="-120"/>
              </a:rPr>
              <a:t>IN YOUR CODE</a:t>
            </a:r>
            <a:endParaRPr lang="en-US" sz="1400" dirty="0"/>
          </a:p>
        </p:txBody>
      </p:sp>
      <p:sp>
        <p:nvSpPr>
          <p:cNvPr id="3" name="Text 1"/>
          <p:cNvSpPr/>
          <p:nvPr>
            <p:ph type="title"/>
          </p:nvPr>
        </p:nvSpPr>
        <p:spPr>
          <a:xfrm>
            <a:off x="812800" y="13398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IBM Plex Sans" pitchFamily="34" charset="0"/>
                <a:ea typeface="IBM Plex Sans" pitchFamily="34" charset="-122"/>
                <a:cs typeface="IBM Plex Sans" pitchFamily="34" charset="-120"/>
              </a:rPr>
              <a:t>Load, render, diff: three calls</a:t>
            </a:r>
            <a:endParaRPr lang="en-US" sz="3200" dirty="0"/>
          </a:p>
        </p:txBody>
      </p:sp>
      <p:sp>
        <p:nvSpPr>
          <p:cNvPr id="4" name="Shape 2"/>
          <p:cNvSpPr/>
          <p:nvPr/>
        </p:nvSpPr>
        <p:spPr>
          <a:xfrm>
            <a:off x="815975" y="2066925"/>
            <a:ext cx="6205041" cy="3162300"/>
          </a:xfrm>
          <a:prstGeom prst="roundRect">
            <a:avLst>
              <a:gd name="adj" fmla="val 3112"/>
            </a:avLst>
          </a:prstGeom>
          <a:solidFill>
            <a:srgbClr val="16263D"/>
          </a:solidFill>
          <a:ln w="6350">
            <a:solidFill>
              <a:srgbClr val="2A3E5C"/>
            </a:solidFill>
            <a:prstDash val="solid"/>
          </a:ln>
        </p:spPr>
      </p:sp>
      <p:sp>
        <p:nvSpPr>
          <p:cNvPr id="5" name="Text 3"/>
          <p:cNvSpPr/>
          <p:nvPr/>
        </p:nvSpPr>
        <p:spPr>
          <a:xfrm>
            <a:off x="1047750" y="2298700"/>
            <a:ext cx="591373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Kotlin (the same calls work from Java)</a:t>
            </a:r>
            <a:endParaRPr lang="en-US" sz="1200" dirty="0"/>
          </a:p>
        </p:txBody>
      </p:sp>
      <p:sp>
        <p:nvSpPr>
          <p:cNvPr id="6" name="Text 4"/>
          <p:cNvSpPr/>
          <p:nvPr/>
        </p:nvSpPr>
        <p:spPr>
          <a:xfrm>
            <a:off x="1047750" y="26098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val policySet = Explico.load(policyDir)</a:t>
            </a:r>
            <a:endParaRPr lang="en-US" sz="1200" dirty="0"/>
          </a:p>
        </p:txBody>
      </p:sp>
      <p:sp>
        <p:nvSpPr>
          <p:cNvPr id="7" name="Text 5"/>
          <p:cNvSpPr/>
          <p:nvPr/>
        </p:nvSpPr>
        <p:spPr>
          <a:xfrm>
            <a:off x="1047750" y="28638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val examples = Explico.loadExamples(examplesDir)</a:t>
            </a:r>
            <a:endParaRPr lang="en-US" sz="1200" dirty="0"/>
          </a:p>
        </p:txBody>
      </p:sp>
      <p:sp>
        <p:nvSpPr>
          <p:cNvPr id="8" name="Text 6"/>
          <p:cNvSpPr/>
          <p:nvPr/>
        </p:nvSpPr>
        <p:spPr>
          <a:xfrm>
            <a:off x="1047750" y="31178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val docs = Explico.render(</a:t>
            </a:r>
            <a:endParaRPr lang="en-US" sz="1200" dirty="0"/>
          </a:p>
        </p:txBody>
      </p:sp>
      <p:sp>
        <p:nvSpPr>
          <p:cNvPr id="9" name="Text 7"/>
          <p:cNvSpPr/>
          <p:nvPr/>
        </p:nvSpPr>
        <p:spPr>
          <a:xfrm>
            <a:off x="1403350" y="3371850"/>
            <a:ext cx="5547468"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policySet, policyDir, examples, dataFile)</a:t>
            </a:r>
            <a:endParaRPr lang="en-US" sz="1200" dirty="0"/>
          </a:p>
        </p:txBody>
      </p:sp>
      <p:sp>
        <p:nvSpPr>
          <p:cNvPr id="10" name="Text 8"/>
          <p:cNvSpPr/>
          <p:nvPr/>
        </p:nvSpPr>
        <p:spPr>
          <a:xfrm>
            <a:off x="1047750" y="37020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docs.files["index.md"] // Markdown text</a:t>
            </a:r>
            <a:endParaRPr lang="en-US" sz="1200" dirty="0"/>
          </a:p>
        </p:txBody>
      </p:sp>
      <p:sp>
        <p:nvSpPr>
          <p:cNvPr id="11" name="Text 9"/>
          <p:cNvSpPr/>
          <p:nvPr/>
        </p:nvSpPr>
        <p:spPr>
          <a:xfrm>
            <a:off x="1047750" y="39560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docs.coverage.percent // 95</a:t>
            </a:r>
            <a:endParaRPr lang="en-US" sz="1200" dirty="0"/>
          </a:p>
        </p:txBody>
      </p:sp>
      <p:sp>
        <p:nvSpPr>
          <p:cNvPr id="12" name="Text 10"/>
          <p:cNvSpPr/>
          <p:nvPr/>
        </p:nvSpPr>
        <p:spPr>
          <a:xfrm>
            <a:off x="1047750" y="42862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val report = Explico.diff(oldSet, newSet)</a:t>
            </a:r>
            <a:endParaRPr lang="en-US" sz="1200" dirty="0"/>
          </a:p>
        </p:txBody>
      </p:sp>
      <p:sp>
        <p:nvSpPr>
          <p:cNvPr id="13" name="Text 11"/>
          <p:cNvSpPr/>
          <p:nvPr/>
        </p:nvSpPr>
        <p:spPr>
          <a:xfrm>
            <a:off x="1047750" y="45402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report.entries // ADDED, LOGIC_CHANGED, ...</a:t>
            </a:r>
            <a:endParaRPr lang="en-US" sz="1200" dirty="0"/>
          </a:p>
        </p:txBody>
      </p:sp>
      <p:sp>
        <p:nvSpPr>
          <p:cNvPr id="14" name="Text 12"/>
          <p:cNvSpPr/>
          <p:nvPr/>
        </p:nvSpPr>
        <p:spPr>
          <a:xfrm>
            <a:off x="1047750" y="4794250"/>
            <a:ext cx="5913736"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JetBrains Mono" pitchFamily="49" charset="0"/>
                <a:ea typeface="JetBrains Mono" pitchFamily="49" charset="-122"/>
                <a:cs typeface="JetBrains Mono" pitchFamily="49" charset="-120"/>
              </a:rPr>
              <a:t>report.markdown // the change report</a:t>
            </a:r>
            <a:endParaRPr lang="en-US" sz="1200" dirty="0"/>
          </a:p>
        </p:txBody>
      </p:sp>
      <p:sp>
        <p:nvSpPr>
          <p:cNvPr id="15" name="Text 13"/>
          <p:cNvSpPr/>
          <p:nvPr/>
        </p:nvSpPr>
        <p:spPr>
          <a:xfrm>
            <a:off x="7278191" y="2257425"/>
            <a:ext cx="4224039" cy="53340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FD3C3"/>
                </a:solidFill>
                <a:latin typeface="IBM Plex Sans" pitchFamily="34" charset="0"/>
                <a:ea typeface="IBM Plex Sans" pitchFamily="34" charset="-122"/>
                <a:cs typeface="IBM Plex Sans" pitchFamily="34" charset="-120"/>
              </a:rPr>
              <a:t>load</a:t>
            </a:r>
            <a:r>
              <a:rPr lang="en-US" sz="1500" dirty="0">
                <a:solidFill>
                  <a:srgbClr val="F7F5EF"/>
                </a:solidFill>
                <a:latin typeface="IBM Plex Sans" pitchFamily="34" charset="0"/>
                <a:ea typeface="IBM Plex Sans" pitchFamily="34" charset="-122"/>
                <a:cs typeface="IBM Plex Sans" pitchFamily="34" charset="-120"/>
              </a:rPr>
              <a:t> parses through opa and returns a model you can reuse.</a:t>
            </a:r>
            <a:endParaRPr lang="en-US" sz="1500" dirty="0"/>
          </a:p>
        </p:txBody>
      </p:sp>
      <p:sp>
        <p:nvSpPr>
          <p:cNvPr id="16" name="Text 14"/>
          <p:cNvSpPr/>
          <p:nvPr/>
        </p:nvSpPr>
        <p:spPr>
          <a:xfrm>
            <a:off x="7278191" y="2930525"/>
            <a:ext cx="4224039" cy="53340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FD3C3"/>
                </a:solidFill>
                <a:latin typeface="IBM Plex Sans" pitchFamily="34" charset="0"/>
                <a:ea typeface="IBM Plex Sans" pitchFamily="34" charset="-122"/>
                <a:cs typeface="IBM Plex Sans" pitchFamily="34" charset="-120"/>
              </a:rPr>
              <a:t>render</a:t>
            </a:r>
            <a:r>
              <a:rPr lang="en-US" sz="1500" dirty="0">
                <a:solidFill>
                  <a:srgbClr val="F7F5EF"/>
                </a:solidFill>
                <a:latin typeface="IBM Plex Sans" pitchFamily="34" charset="0"/>
                <a:ea typeface="IBM Plex Sans" pitchFamily="34" charset="-122"/>
                <a:cs typeface="IBM Plex Sans" pitchFamily="34" charset="-120"/>
              </a:rPr>
              <a:t> returns the Markdown in memory. Write it wherever you like.</a:t>
            </a:r>
            <a:endParaRPr lang="en-US" sz="1500" dirty="0"/>
          </a:p>
        </p:txBody>
      </p:sp>
      <p:sp>
        <p:nvSpPr>
          <p:cNvPr id="17" name="Text 15"/>
          <p:cNvSpPr/>
          <p:nvPr/>
        </p:nvSpPr>
        <p:spPr>
          <a:xfrm>
            <a:off x="7278191" y="3603625"/>
            <a:ext cx="4224039" cy="53340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5FD3C3"/>
                </a:solidFill>
                <a:latin typeface="IBM Plex Sans" pitchFamily="34" charset="0"/>
                <a:ea typeface="IBM Plex Sans" pitchFamily="34" charset="-122"/>
                <a:cs typeface="IBM Plex Sans" pitchFamily="34" charset="-120"/>
              </a:rPr>
              <a:t>diff</a:t>
            </a:r>
            <a:r>
              <a:rPr lang="en-US" sz="1500" dirty="0">
                <a:solidFill>
                  <a:srgbClr val="F7F5EF"/>
                </a:solidFill>
                <a:latin typeface="IBM Plex Sans" pitchFamily="34" charset="0"/>
                <a:ea typeface="IBM Plex Sans" pitchFamily="34" charset="-122"/>
                <a:cs typeface="IBM Plex Sans" pitchFamily="34" charset="-120"/>
              </a:rPr>
              <a:t> compares two loaded versions. The entries are typed, so a build can act on them.</a:t>
            </a:r>
            <a:endParaRPr lang="en-US" sz="1500" dirty="0"/>
          </a:p>
        </p:txBody>
      </p:sp>
      <p:sp>
        <p:nvSpPr>
          <p:cNvPr id="18" name="Text 16"/>
          <p:cNvSpPr/>
          <p:nvPr/>
        </p:nvSpPr>
        <p:spPr>
          <a:xfrm>
            <a:off x="7278191" y="4276725"/>
            <a:ext cx="4224039" cy="7874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8C4D6"/>
                </a:solidFill>
                <a:latin typeface="IBM Plex Sans" pitchFamily="34" charset="0"/>
                <a:ea typeface="IBM Plex Sans" pitchFamily="34" charset="-122"/>
                <a:cs typeface="IBM Plex Sans" pitchFamily="34" charset="-120"/>
              </a:rPr>
              <a:t>Get it from Maven Central as io.github.wakaleo:explico. It needs Java 17 or newer.</a:t>
            </a:r>
            <a:endParaRPr lang="en-US" sz="1500" dirty="0"/>
          </a:p>
        </p:txBody>
      </p:sp>
      <p:sp>
        <p:nvSpPr>
          <p:cNvPr id="19" name="Text 17"/>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0E6B63"/>
                </a:solidFill>
                <a:latin typeface="IBM Plex Sans" pitchFamily="34" charset="0"/>
                <a:ea typeface="IBM Plex Sans" pitchFamily="34" charset="-122"/>
                <a:cs typeface="IBM Plex Sans" pitchFamily="34" charset="-120"/>
              </a:rPr>
              <a:t>EVIDENCE</a:t>
            </a:r>
            <a:endParaRPr lang="en-US" sz="1400" dirty="0"/>
          </a:p>
        </p:txBody>
      </p:sp>
      <p:sp>
        <p:nvSpPr>
          <p:cNvPr id="3" name="Text 1"/>
          <p:cNvSpPr/>
          <p:nvPr>
            <p:ph type="title"/>
          </p:nvPr>
        </p:nvSpPr>
        <p:spPr>
          <a:xfrm>
            <a:off x="812800" y="1365250"/>
            <a:ext cx="10883392" cy="52705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Tested against real-world Rego</a:t>
            </a:r>
            <a:endParaRPr lang="en-US" sz="3600" dirty="0"/>
          </a:p>
        </p:txBody>
      </p:sp>
      <p:sp>
        <p:nvSpPr>
          <p:cNvPr id="4" name="Shape 2"/>
          <p:cNvSpPr/>
          <p:nvPr/>
        </p:nvSpPr>
        <p:spPr>
          <a:xfrm>
            <a:off x="815975" y="2174875"/>
            <a:ext cx="3380284" cy="2298700"/>
          </a:xfrm>
          <a:prstGeom prst="roundRect">
            <a:avLst>
              <a:gd name="adj" fmla="val 4282"/>
            </a:avLst>
          </a:prstGeom>
          <a:solidFill>
            <a:srgbClr val="FFFDF8"/>
          </a:solidFill>
          <a:ln w="6350">
            <a:solidFill>
              <a:srgbClr val="DDD8CB"/>
            </a:solidFill>
            <a:prstDash val="solid"/>
          </a:ln>
        </p:spPr>
      </p:sp>
      <p:sp>
        <p:nvSpPr>
          <p:cNvPr id="5" name="Text 3"/>
          <p:cNvSpPr/>
          <p:nvPr/>
        </p:nvSpPr>
        <p:spPr>
          <a:xfrm>
            <a:off x="1073150" y="2432050"/>
            <a:ext cx="2951912" cy="71755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6B63"/>
                </a:solidFill>
                <a:latin typeface="IBM Plex Sans" pitchFamily="34" charset="0"/>
                <a:ea typeface="IBM Plex Sans" pitchFamily="34" charset="-122"/>
                <a:cs typeface="IBM Plex Sans" pitchFamily="34" charset="-120"/>
              </a:rPr>
              <a:t>97%</a:t>
            </a:r>
            <a:endParaRPr lang="en-US" sz="5200" dirty="0"/>
          </a:p>
        </p:txBody>
      </p:sp>
      <p:sp>
        <p:nvSpPr>
          <p:cNvPr id="6" name="Text 4"/>
          <p:cNvSpPr/>
          <p:nvPr/>
        </p:nvSpPr>
        <p:spPr>
          <a:xfrm>
            <a:off x="1073150" y="3200400"/>
            <a:ext cx="2951912" cy="10414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IBM Plex Sans" pitchFamily="34" charset="0"/>
                <a:ea typeface="IBM Plex Sans" pitchFamily="34" charset="-122"/>
                <a:cs typeface="IBM Plex Sans" pitchFamily="34" charset="-120"/>
              </a:rPr>
              <a:t>of 964 real Rego files (Gatekeeper, Trivy, Regal, conftest) render. The rest are rejected by OPA itself.</a:t>
            </a:r>
            <a:endParaRPr lang="en-US" sz="1500" dirty="0"/>
          </a:p>
        </p:txBody>
      </p:sp>
      <p:sp>
        <p:nvSpPr>
          <p:cNvPr id="7" name="Shape 5"/>
          <p:cNvSpPr/>
          <p:nvPr/>
        </p:nvSpPr>
        <p:spPr>
          <a:xfrm>
            <a:off x="4405809" y="2174875"/>
            <a:ext cx="3380284" cy="2298700"/>
          </a:xfrm>
          <a:prstGeom prst="roundRect">
            <a:avLst>
              <a:gd name="adj" fmla="val 4282"/>
            </a:avLst>
          </a:prstGeom>
          <a:solidFill>
            <a:srgbClr val="FFFDF8"/>
          </a:solidFill>
          <a:ln w="6350">
            <a:solidFill>
              <a:srgbClr val="DDD8CB"/>
            </a:solidFill>
            <a:prstDash val="solid"/>
          </a:ln>
        </p:spPr>
      </p:sp>
      <p:sp>
        <p:nvSpPr>
          <p:cNvPr id="8" name="Text 6"/>
          <p:cNvSpPr/>
          <p:nvPr/>
        </p:nvSpPr>
        <p:spPr>
          <a:xfrm>
            <a:off x="4662984" y="2432050"/>
            <a:ext cx="2951912" cy="71755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6B63"/>
                </a:solidFill>
                <a:latin typeface="IBM Plex Sans" pitchFamily="34" charset="0"/>
                <a:ea typeface="IBM Plex Sans" pitchFamily="34" charset="-122"/>
                <a:cs typeface="IBM Plex Sans" pitchFamily="34" charset="-120"/>
              </a:rPr>
              <a:t>0</a:t>
            </a:r>
            <a:endParaRPr lang="en-US" sz="5200" dirty="0"/>
          </a:p>
        </p:txBody>
      </p:sp>
      <p:sp>
        <p:nvSpPr>
          <p:cNvPr id="9" name="Text 7"/>
          <p:cNvSpPr/>
          <p:nvPr/>
        </p:nvSpPr>
        <p:spPr>
          <a:xfrm>
            <a:off x="4662984" y="3200400"/>
            <a:ext cx="2951912" cy="7874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IBM Plex Sans" pitchFamily="34" charset="0"/>
                <a:ea typeface="IBM Plex Sans" pitchFamily="34" charset="-122"/>
                <a:cs typeface="IBM Plex Sans" pitchFamily="34" charset="-120"/>
              </a:rPr>
              <a:t>mapper crashes. A rule that fails to map is isolated and shown as source, never a blank.</a:t>
            </a:r>
            <a:endParaRPr lang="en-US" sz="1500" dirty="0"/>
          </a:p>
        </p:txBody>
      </p:sp>
      <p:sp>
        <p:nvSpPr>
          <p:cNvPr id="10" name="Shape 8"/>
          <p:cNvSpPr/>
          <p:nvPr/>
        </p:nvSpPr>
        <p:spPr>
          <a:xfrm>
            <a:off x="7995642" y="2174875"/>
            <a:ext cx="3380284" cy="2298700"/>
          </a:xfrm>
          <a:prstGeom prst="roundRect">
            <a:avLst>
              <a:gd name="adj" fmla="val 4282"/>
            </a:avLst>
          </a:prstGeom>
          <a:solidFill>
            <a:srgbClr val="FFFDF8"/>
          </a:solidFill>
          <a:ln w="6350">
            <a:solidFill>
              <a:srgbClr val="DDD8CB"/>
            </a:solidFill>
            <a:prstDash val="solid"/>
          </a:ln>
        </p:spPr>
      </p:sp>
      <p:sp>
        <p:nvSpPr>
          <p:cNvPr id="11" name="Text 9"/>
          <p:cNvSpPr/>
          <p:nvPr/>
        </p:nvSpPr>
        <p:spPr>
          <a:xfrm>
            <a:off x="8252817" y="2432050"/>
            <a:ext cx="2951912" cy="71755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6B63"/>
                </a:solidFill>
                <a:latin typeface="IBM Plex Sans" pitchFamily="34" charset="0"/>
                <a:ea typeface="IBM Plex Sans" pitchFamily="34" charset="-122"/>
                <a:cs typeface="IBM Plex Sans" pitchFamily="34" charset="-120"/>
              </a:rPr>
              <a:t>95%</a:t>
            </a:r>
            <a:endParaRPr lang="en-US" sz="5200" dirty="0"/>
          </a:p>
        </p:txBody>
      </p:sp>
      <p:sp>
        <p:nvSpPr>
          <p:cNvPr id="12" name="Text 10"/>
          <p:cNvSpPr/>
          <p:nvPr/>
        </p:nvSpPr>
        <p:spPr>
          <a:xfrm>
            <a:off x="8252817" y="3200400"/>
            <a:ext cx="2951912" cy="10414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5568"/>
                </a:solidFill>
                <a:latin typeface="IBM Plex Sans" pitchFamily="34" charset="0"/>
                <a:ea typeface="IBM Plex Sans" pitchFamily="34" charset="-122"/>
                <a:cs typeface="IBM Plex Sans" pitchFamily="34" charset="-120"/>
              </a:rPr>
              <a:t>of conditions rendered on the reference pack. About 60% on real-world code; the rest is shown as source.</a:t>
            </a:r>
            <a:endParaRPr lang="en-US" sz="1500" dirty="0"/>
          </a:p>
        </p:txBody>
      </p:sp>
      <p:sp>
        <p:nvSpPr>
          <p:cNvPr id="13" name="Text 11"/>
          <p:cNvSpPr/>
          <p:nvPr/>
        </p:nvSpPr>
        <p:spPr>
          <a:xfrm>
            <a:off x="812800" y="4781550"/>
            <a:ext cx="10883392" cy="5842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F1B2D"/>
                </a:solidFill>
                <a:latin typeface="IBM Plex Sans" pitchFamily="34" charset="0"/>
                <a:ea typeface="IBM Plex Sans" pitchFamily="34" charset="-122"/>
                <a:cs typeface="IBM Plex Sans" pitchFamily="34" charset="-120"/>
              </a:rPr>
              <a:t>More than 800 automated tests on Linux, macOS and Windows, a frozen acceptance contract, byte-exact golden outputs, and dependencies scanned against the OSV vulnerability database.</a:t>
            </a:r>
            <a:endParaRPr lang="en-US" sz="1600" dirty="0"/>
          </a:p>
        </p:txBody>
      </p:sp>
      <p:sp>
        <p:nvSpPr>
          <p:cNvPr id="14" name="Text 12"/>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F2B84B"/>
                </a:solidFill>
                <a:latin typeface="IBM Plex Sans" pitchFamily="34" charset="0"/>
                <a:ea typeface="IBM Plex Sans" pitchFamily="34" charset="-122"/>
                <a:cs typeface="IBM Plex Sans" pitchFamily="34" charset="-120"/>
              </a:rPr>
              <a:t>HONEST LIMITS</a:t>
            </a:r>
            <a:endParaRPr lang="en-US" sz="1400" dirty="0"/>
          </a:p>
        </p:txBody>
      </p:sp>
      <p:sp>
        <p:nvSpPr>
          <p:cNvPr id="3" name="Text 1"/>
          <p:cNvSpPr/>
          <p:nvPr>
            <p:ph type="title"/>
          </p:nvPr>
        </p:nvSpPr>
        <p:spPr>
          <a:xfrm>
            <a:off x="812800" y="1339850"/>
            <a:ext cx="10883392" cy="4699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EF"/>
                </a:solidFill>
                <a:latin typeface="IBM Plex Sans" pitchFamily="34" charset="0"/>
                <a:ea typeface="IBM Plex Sans" pitchFamily="34" charset="-122"/>
                <a:cs typeface="IBM Plex Sans" pitchFamily="34" charset="-120"/>
              </a:rPr>
              <a:t>Where it stops today</a:t>
            </a:r>
            <a:endParaRPr lang="en-US" sz="3200" dirty="0"/>
          </a:p>
        </p:txBody>
      </p:sp>
      <p:sp>
        <p:nvSpPr>
          <p:cNvPr id="4" name="Shape 2"/>
          <p:cNvSpPr/>
          <p:nvPr/>
        </p:nvSpPr>
        <p:spPr>
          <a:xfrm>
            <a:off x="815975" y="2066925"/>
            <a:ext cx="5175250" cy="1308100"/>
          </a:xfrm>
          <a:prstGeom prst="roundRect">
            <a:avLst>
              <a:gd name="adj" fmla="val 7524"/>
            </a:avLst>
          </a:prstGeom>
          <a:solidFill>
            <a:srgbClr val="16263D"/>
          </a:solidFill>
          <a:ln w="6350">
            <a:solidFill>
              <a:srgbClr val="2A3E5C"/>
            </a:solidFill>
            <a:prstDash val="solid"/>
          </a:ln>
        </p:spPr>
      </p:sp>
      <p:sp>
        <p:nvSpPr>
          <p:cNvPr id="5" name="Text 3"/>
          <p:cNvSpPr/>
          <p:nvPr/>
        </p:nvSpPr>
        <p:spPr>
          <a:xfrm>
            <a:off x="1047750" y="2298700"/>
            <a:ext cx="485305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84B"/>
                </a:solidFill>
                <a:latin typeface="IBM Plex Sans" pitchFamily="34" charset="0"/>
                <a:ea typeface="IBM Plex Sans" pitchFamily="34" charset="-122"/>
                <a:cs typeface="IBM Plex Sans" pitchFamily="34" charset="-120"/>
              </a:rPr>
              <a:t>About 60% on real code</a:t>
            </a:r>
            <a:endParaRPr lang="en-US" sz="1800" dirty="0"/>
          </a:p>
        </p:txBody>
      </p:sp>
      <p:sp>
        <p:nvSpPr>
          <p:cNvPr id="6" name="Text 4"/>
          <p:cNvSpPr/>
          <p:nvPr/>
        </p:nvSpPr>
        <p:spPr>
          <a:xfrm>
            <a:off x="1047750" y="2647950"/>
            <a:ext cx="485305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EEA"/>
                </a:solidFill>
                <a:latin typeface="IBM Plex Sans" pitchFamily="34" charset="0"/>
                <a:ea typeface="IBM Plex Sans" pitchFamily="34" charset="-122"/>
                <a:cs typeface="IBM Plex Sans" pitchFamily="34" charset="-120"/>
              </a:rPr>
              <a:t>Constructs it won’t paraphrase (every, with, else) and calls nobody can resolve stay as source.</a:t>
            </a:r>
            <a:endParaRPr lang="en-US" sz="1400" dirty="0"/>
          </a:p>
        </p:txBody>
      </p:sp>
      <p:sp>
        <p:nvSpPr>
          <p:cNvPr id="7" name="Shape 5"/>
          <p:cNvSpPr/>
          <p:nvPr/>
        </p:nvSpPr>
        <p:spPr>
          <a:xfrm>
            <a:off x="6200775" y="2066925"/>
            <a:ext cx="5175250" cy="1308100"/>
          </a:xfrm>
          <a:prstGeom prst="roundRect">
            <a:avLst>
              <a:gd name="adj" fmla="val 7524"/>
            </a:avLst>
          </a:prstGeom>
          <a:solidFill>
            <a:srgbClr val="16263D"/>
          </a:solidFill>
          <a:ln w="6350">
            <a:solidFill>
              <a:srgbClr val="2A3E5C"/>
            </a:solidFill>
            <a:prstDash val="solid"/>
          </a:ln>
        </p:spPr>
      </p:sp>
      <p:sp>
        <p:nvSpPr>
          <p:cNvPr id="8" name="Text 6"/>
          <p:cNvSpPr/>
          <p:nvPr/>
        </p:nvSpPr>
        <p:spPr>
          <a:xfrm>
            <a:off x="6432550" y="2298700"/>
            <a:ext cx="485305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84B"/>
                </a:solidFill>
                <a:latin typeface="IBM Plex Sans" pitchFamily="34" charset="0"/>
                <a:ea typeface="IBM Plex Sans" pitchFamily="34" charset="-122"/>
                <a:cs typeface="IBM Plex Sans" pitchFamily="34" charset="-120"/>
              </a:rPr>
              <a:t>Some examples are withheld</a:t>
            </a:r>
            <a:endParaRPr lang="en-US" sz="1800" dirty="0"/>
          </a:p>
        </p:txBody>
      </p:sp>
      <p:sp>
        <p:nvSpPr>
          <p:cNvPr id="9" name="Text 7"/>
          <p:cNvSpPr/>
          <p:nvPr/>
        </p:nvSpPr>
        <p:spPr>
          <a:xfrm>
            <a:off x="6432550" y="2647950"/>
            <a:ext cx="485305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EEA"/>
                </a:solidFill>
                <a:latin typeface="IBM Plex Sans" pitchFamily="34" charset="0"/>
                <a:ea typeface="IBM Plex Sans" pitchFamily="34" charset="-122"/>
                <a:cs typeface="IBM Plex Sans" pitchFamily="34" charset="-120"/>
              </a:rPr>
              <a:t>Several same-named boolean rules show no worked examples: a verdict can’t be pinned to one of them.</a:t>
            </a:r>
            <a:endParaRPr lang="en-US" sz="1400" dirty="0"/>
          </a:p>
        </p:txBody>
      </p:sp>
      <p:sp>
        <p:nvSpPr>
          <p:cNvPr id="10" name="Shape 8"/>
          <p:cNvSpPr/>
          <p:nvPr/>
        </p:nvSpPr>
        <p:spPr>
          <a:xfrm>
            <a:off x="815975" y="3584575"/>
            <a:ext cx="5175250" cy="1308100"/>
          </a:xfrm>
          <a:prstGeom prst="roundRect">
            <a:avLst>
              <a:gd name="adj" fmla="val 7524"/>
            </a:avLst>
          </a:prstGeom>
          <a:solidFill>
            <a:srgbClr val="16263D"/>
          </a:solidFill>
          <a:ln w="6350">
            <a:solidFill>
              <a:srgbClr val="2A3E5C"/>
            </a:solidFill>
            <a:prstDash val="solid"/>
          </a:ln>
        </p:spPr>
      </p:sp>
      <p:sp>
        <p:nvSpPr>
          <p:cNvPr id="11" name="Text 9"/>
          <p:cNvSpPr/>
          <p:nvPr/>
        </p:nvSpPr>
        <p:spPr>
          <a:xfrm>
            <a:off x="1047750" y="3816350"/>
            <a:ext cx="485305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84B"/>
                </a:solidFill>
                <a:latin typeface="IBM Plex Sans" pitchFamily="34" charset="0"/>
                <a:ea typeface="IBM Plex Sans" pitchFamily="34" charset="-122"/>
                <a:cs typeface="IBM Plex Sans" pitchFamily="34" charset="-120"/>
              </a:rPr>
              <a:t>Early release (0.1.x)</a:t>
            </a:r>
            <a:endParaRPr lang="en-US" sz="1800" dirty="0"/>
          </a:p>
        </p:txBody>
      </p:sp>
      <p:sp>
        <p:nvSpPr>
          <p:cNvPr id="12" name="Text 10"/>
          <p:cNvSpPr/>
          <p:nvPr/>
        </p:nvSpPr>
        <p:spPr>
          <a:xfrm>
            <a:off x="1047750" y="4165600"/>
            <a:ext cx="485305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EEA"/>
                </a:solidFill>
                <a:latin typeface="IBM Plex Sans" pitchFamily="34" charset="0"/>
                <a:ea typeface="IBM Plex Sans" pitchFamily="34" charset="-122"/>
                <a:cs typeface="IBM Plex Sans" pitchFamily="34" charset="-120"/>
              </a:rPr>
              <a:t>On Maven Central and tested on Linux, macOS and Windows. Pre-1.0, so the API can still change.</a:t>
            </a:r>
            <a:endParaRPr lang="en-US" sz="1400" dirty="0"/>
          </a:p>
        </p:txBody>
      </p:sp>
      <p:sp>
        <p:nvSpPr>
          <p:cNvPr id="13" name="Shape 11"/>
          <p:cNvSpPr/>
          <p:nvPr/>
        </p:nvSpPr>
        <p:spPr>
          <a:xfrm>
            <a:off x="6200775" y="3584575"/>
            <a:ext cx="5175250" cy="1308100"/>
          </a:xfrm>
          <a:prstGeom prst="roundRect">
            <a:avLst>
              <a:gd name="adj" fmla="val 7524"/>
            </a:avLst>
          </a:prstGeom>
          <a:solidFill>
            <a:srgbClr val="16263D"/>
          </a:solidFill>
          <a:ln w="6350">
            <a:solidFill>
              <a:srgbClr val="2A3E5C"/>
            </a:solidFill>
            <a:prstDash val="solid"/>
          </a:ln>
        </p:spPr>
      </p:sp>
      <p:sp>
        <p:nvSpPr>
          <p:cNvPr id="14" name="Text 12"/>
          <p:cNvSpPr/>
          <p:nvPr/>
        </p:nvSpPr>
        <p:spPr>
          <a:xfrm>
            <a:off x="6432550" y="3816350"/>
            <a:ext cx="4853051" cy="29845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84B"/>
                </a:solidFill>
                <a:latin typeface="IBM Plex Sans" pitchFamily="34" charset="0"/>
                <a:ea typeface="IBM Plex Sans" pitchFamily="34" charset="-122"/>
                <a:cs typeface="IBM Plex Sans" pitchFamily="34" charset="-120"/>
              </a:rPr>
              <a:t>You choose the Rego version</a:t>
            </a:r>
            <a:endParaRPr lang="en-US" sz="1800" dirty="0"/>
          </a:p>
        </p:txBody>
      </p:sp>
      <p:sp>
        <p:nvSpPr>
          <p:cNvPr id="15" name="Text 13"/>
          <p:cNvSpPr/>
          <p:nvPr/>
        </p:nvSpPr>
        <p:spPr>
          <a:xfrm>
            <a:off x="6432550" y="4165600"/>
            <a:ext cx="4853051" cy="52070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EEA"/>
                </a:solidFill>
                <a:latin typeface="IBM Plex Sans" pitchFamily="34" charset="0"/>
                <a:ea typeface="IBM Plex Sans" pitchFamily="34" charset="-122"/>
                <a:cs typeface="IBM Plex Sans" pitchFamily="34" charset="-120"/>
              </a:rPr>
              <a:t>Version 1 is the default and legacy v0 is selected explicitly. It is never guessed.</a:t>
            </a:r>
            <a:endParaRPr lang="en-US" sz="1400" dirty="0"/>
          </a:p>
        </p:txBody>
      </p:sp>
      <p:sp>
        <p:nvSpPr>
          <p:cNvPr id="16" name="Text 14"/>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1476375"/>
            <a:ext cx="10883392" cy="27305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0E6B63"/>
                </a:solidFill>
                <a:latin typeface="IBM Plex Sans" pitchFamily="34" charset="0"/>
                <a:ea typeface="IBM Plex Sans" pitchFamily="34" charset="-122"/>
                <a:cs typeface="IBM Plex Sans" pitchFamily="34" charset="-120"/>
              </a:rPr>
              <a:t>NEXT STEP</a:t>
            </a:r>
            <a:endParaRPr lang="en-US" sz="1400" dirty="0"/>
          </a:p>
        </p:txBody>
      </p:sp>
      <p:sp>
        <p:nvSpPr>
          <p:cNvPr id="3" name="Text 1"/>
          <p:cNvSpPr/>
          <p:nvPr>
            <p:ph type="title"/>
          </p:nvPr>
        </p:nvSpPr>
        <p:spPr>
          <a:xfrm>
            <a:off x="812800" y="2079625"/>
            <a:ext cx="10883392" cy="60960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0F1B2D"/>
                </a:solidFill>
                <a:latin typeface="IBM Plex Sans" pitchFamily="34" charset="0"/>
                <a:ea typeface="IBM Plex Sans" pitchFamily="34" charset="-122"/>
                <a:cs typeface="IBM Plex Sans" pitchFamily="34" charset="-120"/>
              </a:rPr>
              <a:t>See it on a real policy set</a:t>
            </a:r>
            <a:endParaRPr lang="en-US" sz="4200" dirty="0"/>
          </a:p>
        </p:txBody>
      </p:sp>
      <p:sp>
        <p:nvSpPr>
          <p:cNvPr id="4" name="Shape 2"/>
          <p:cNvSpPr/>
          <p:nvPr/>
        </p:nvSpPr>
        <p:spPr>
          <a:xfrm>
            <a:off x="812800" y="3019425"/>
            <a:ext cx="10566400" cy="812800"/>
          </a:xfrm>
          <a:prstGeom prst="roundRect">
            <a:avLst>
              <a:gd name="adj" fmla="val 12500"/>
            </a:avLst>
          </a:prstGeom>
          <a:solidFill>
            <a:srgbClr val="0F1B2D"/>
          </a:solidFill>
          <a:ln/>
        </p:spPr>
      </p:sp>
      <p:sp>
        <p:nvSpPr>
          <p:cNvPr id="5" name="Text 3"/>
          <p:cNvSpPr/>
          <p:nvPr/>
        </p:nvSpPr>
        <p:spPr>
          <a:xfrm>
            <a:off x="1066800" y="3273425"/>
            <a:ext cx="10360152" cy="33020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7F5EF"/>
                </a:solidFill>
                <a:latin typeface="JetBrains Mono" pitchFamily="49" charset="0"/>
                <a:ea typeface="JetBrains Mono" pitchFamily="49" charset="-122"/>
                <a:cs typeface="JetBrains Mono" pitchFamily="49" charset="-120"/>
              </a:rPr>
              <a:t>java -jar explico.jar demo</a:t>
            </a:r>
            <a:endParaRPr lang="en-US" sz="1800" dirty="0"/>
          </a:p>
        </p:txBody>
      </p:sp>
      <p:sp>
        <p:nvSpPr>
          <p:cNvPr id="6" name="Text 4"/>
          <p:cNvSpPr/>
          <p:nvPr/>
        </p:nvSpPr>
        <p:spPr>
          <a:xfrm>
            <a:off x="812800" y="4187825"/>
            <a:ext cx="10883392" cy="3429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1B2D"/>
                </a:solidFill>
                <a:latin typeface="IBM Plex Sans" pitchFamily="34" charset="0"/>
                <a:ea typeface="IBM Plex Sans" pitchFamily="34" charset="-122"/>
                <a:cs typeface="IBM Plex Sans" pitchFamily="34" charset="-120"/>
              </a:rPr>
              <a:t>Renders a five-policy release-governance pack with worked examples.</a:t>
            </a:r>
            <a:endParaRPr lang="en-US" sz="1800" dirty="0"/>
          </a:p>
        </p:txBody>
      </p:sp>
      <p:sp>
        <p:nvSpPr>
          <p:cNvPr id="7" name="Text 5"/>
          <p:cNvSpPr/>
          <p:nvPr/>
        </p:nvSpPr>
        <p:spPr>
          <a:xfrm>
            <a:off x="812800" y="4860925"/>
            <a:ext cx="10883392" cy="34290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IBM Plex Sans" pitchFamily="34" charset="0"/>
                <a:ea typeface="IBM Plex Sans" pitchFamily="34" charset="-122"/>
                <a:cs typeface="IBM Plex Sans" pitchFamily="34" charset="-120"/>
              </a:rPr>
              <a:t>Then read docs/showcase: Rego source beside the rendered output.</a:t>
            </a:r>
            <a:endParaRPr lang="en-US" sz="1800" dirty="0"/>
          </a:p>
        </p:txBody>
      </p:sp>
      <p:sp>
        <p:nvSpPr>
          <p:cNvPr id="8" name="Text 6"/>
          <p:cNvSpPr/>
          <p:nvPr/>
        </p:nvSpPr>
        <p:spPr>
          <a:xfrm>
            <a:off x="812800" y="6242050"/>
            <a:ext cx="5857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explico</a:t>
            </a:r>
            <a:endParaRPr lang="en-US" sz="1200" dirty="0"/>
          </a:p>
        </p:txBody>
      </p:sp>
    </p:spTree>
  </p:cSld>
  <p:clrMapOvr>
    <a:masterClrMapping/>
  </p:clrMapOvr>
</p:sld>
</file>

<file path=ppt/theme/theme1.xml><?xml version="1.0" encoding="utf-8"?>
<a:theme xmlns:a="http://schemas.openxmlformats.org/drawingml/2006/main" name="explico overview">
  <a:themeElements>
    <a:clrScheme name="explico overview">
      <a:dk1>
        <a:srgbClr val="0F1B2D"/>
      </a:dk1>
      <a:lt1>
        <a:srgbClr val="F7F5EF"/>
      </a:lt1>
      <a:dk2>
        <a:srgbClr val="263140"/>
      </a:dk2>
      <a:lt2>
        <a:srgbClr val="BDBFBF"/>
      </a:lt2>
      <a:accent1>
        <a:srgbClr val="0E6B63"/>
      </a:accent1>
      <a:accent2>
        <a:srgbClr val="8FA3BF"/>
      </a:accent2>
      <a:accent3>
        <a:srgbClr val="5FD3C3"/>
      </a:accent3>
      <a:accent4>
        <a:srgbClr val="F2B84B"/>
      </a:accent4>
      <a:accent5>
        <a:srgbClr val="8A5300"/>
      </a:accent5>
      <a:accent6>
        <a:srgbClr val="4A5568"/>
      </a:accent6>
      <a:hlink>
        <a:srgbClr val="0563C1"/>
      </a:hlink>
      <a:folHlink>
        <a:srgbClr val="954F72"/>
      </a:folHlink>
    </a:clrScheme>
    <a:fontScheme name="explico overview">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explico overview</dc:title>
  <dc:subject/>
  <dc:creator/>
  <cp:lastModifiedBy/>
  <cp:revision>1</cp:revision>
  <dcterms:created xsi:type="dcterms:W3CDTF">2026-10-19T11:08:04Z</dcterms:created>
  <dcterms:modified xsi:type="dcterms:W3CDTF">2026-10-19T11:08:04Z</dcterms:modified>
</cp:coreProperties>
</file>